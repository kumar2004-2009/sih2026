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rial MT Pro" panose="020B0604020202020204" charset="0"/>
      <p:regular r:id="rId8"/>
    </p:embeddedFont>
    <p:embeddedFont>
      <p:font typeface="Arial MT Pro Bold" panose="020B0604020202020204" charset="0"/>
      <p:regular r:id="rId9"/>
    </p:embeddedFont>
    <p:embeddedFont>
      <p:font typeface="Caladea" panose="020B0604020202020204" charset="0"/>
      <p:regular r:id="rId10"/>
    </p:embeddedFont>
    <p:embeddedFont>
      <p:font typeface="Caladea Bold" panose="020B0604020202020204" charset="0"/>
      <p:regular r:id="rId11"/>
    </p:embeddedFont>
    <p:embeddedFont>
      <p:font typeface="Calistoga" panose="020B0604020202020204" charset="0"/>
      <p:regular r:id="rId12"/>
    </p:embeddedFont>
    <p:embeddedFont>
      <p:font typeface="Georgia Pro Bold" panose="020B0604020202020204" charset="0"/>
      <p:regular r:id="rId13"/>
    </p:embeddedFont>
    <p:embeddedFont>
      <p:font typeface="Open Sauce Bold" panose="020B0604020202020204" charset="0"/>
      <p:regular r:id="rId14"/>
    </p:embeddedFont>
    <p:embeddedFont>
      <p:font typeface="Poppins" panose="00000500000000000000" pitchFamily="2" charset="0"/>
      <p:regular r:id="rId15"/>
    </p:embeddedFont>
    <p:embeddedFont>
      <p:font typeface="Times New Roman MT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0" d="100"/>
          <a:sy n="50" d="100"/>
        </p:scale>
        <p:origin x="946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ist.gov/cyberframework" TargetMode="External"/><Relationship Id="rId3" Type="http://schemas.openxmlformats.org/officeDocument/2006/relationships/hyperlink" Target="https://www.fairinstitute.org/what-is-fair" TargetMode="External"/><Relationship Id="rId7" Type="http://schemas.openxmlformats.org/officeDocument/2006/relationships/hyperlink" Target="https://nsdl.co.in/downloadables/pdf/2024-0118-Policy-SEBI_Circular_on_Cybersecurity_and_Cyber_Resilience_Framework_(CSCRF)_for_SEBI_Regulated_Entities_(REs).pdf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rbi.org.in/commonman/english/scripts/Notification.aspx?Id=1721" TargetMode="External"/><Relationship Id="rId5" Type="http://schemas.openxmlformats.org/officeDocument/2006/relationships/hyperlink" Target="https://www.first.org/epss/" TargetMode="External"/><Relationship Id="rId4" Type="http://schemas.openxmlformats.org/officeDocument/2006/relationships/hyperlink" Target="https://www.opengroup.org/open-fair" TargetMode="External"/><Relationship Id="rId9" Type="http://schemas.openxmlformats.org/officeDocument/2006/relationships/hyperlink" Target="https://coin-or.github.io/pul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567759" y="1890274"/>
            <a:ext cx="6953021" cy="7734300"/>
            <a:chOff x="0" y="0"/>
            <a:chExt cx="6953021" cy="7734300"/>
          </a:xfrm>
        </p:grpSpPr>
        <p:sp>
          <p:nvSpPr>
            <p:cNvPr id="3" name="Freeform 3"/>
            <p:cNvSpPr/>
            <p:nvPr/>
          </p:nvSpPr>
          <p:spPr>
            <a:xfrm>
              <a:off x="-63" y="0"/>
              <a:ext cx="6952961" cy="7734301"/>
            </a:xfrm>
            <a:custGeom>
              <a:avLst/>
              <a:gdLst/>
              <a:ahLst/>
              <a:cxnLst/>
              <a:rect l="l" t="t" r="r" b="b"/>
              <a:pathLst>
                <a:path w="6952961" h="7734301">
                  <a:moveTo>
                    <a:pt x="408368" y="4688967"/>
                  </a:moveTo>
                  <a:cubicBezTo>
                    <a:pt x="408368" y="4688967"/>
                    <a:pt x="408368" y="4688967"/>
                    <a:pt x="1009967" y="4688967"/>
                  </a:cubicBezTo>
                  <a:cubicBezTo>
                    <a:pt x="1047685" y="4688967"/>
                    <a:pt x="1084007" y="4716653"/>
                    <a:pt x="1102169" y="4761611"/>
                  </a:cubicBezTo>
                  <a:cubicBezTo>
                    <a:pt x="1102169" y="4761611"/>
                    <a:pt x="1102169" y="4761611"/>
                    <a:pt x="1403666" y="5454396"/>
                  </a:cubicBezTo>
                  <a:cubicBezTo>
                    <a:pt x="1423224" y="5497576"/>
                    <a:pt x="1423224" y="5552948"/>
                    <a:pt x="1403666" y="5596128"/>
                  </a:cubicBezTo>
                  <a:cubicBezTo>
                    <a:pt x="1403666" y="5596128"/>
                    <a:pt x="1403666" y="5596128"/>
                    <a:pt x="1102169" y="6288913"/>
                  </a:cubicBezTo>
                  <a:cubicBezTo>
                    <a:pt x="1084007" y="6333744"/>
                    <a:pt x="1047685" y="6361557"/>
                    <a:pt x="1009967" y="6361557"/>
                  </a:cubicBezTo>
                  <a:cubicBezTo>
                    <a:pt x="1009967" y="6361557"/>
                    <a:pt x="1009967" y="6361557"/>
                    <a:pt x="408368" y="6361557"/>
                  </a:cubicBezTo>
                  <a:cubicBezTo>
                    <a:pt x="369379" y="6361557"/>
                    <a:pt x="334327" y="6333871"/>
                    <a:pt x="314769" y="6288913"/>
                  </a:cubicBezTo>
                  <a:cubicBezTo>
                    <a:pt x="314769" y="6288913"/>
                    <a:pt x="314769" y="6288913"/>
                    <a:pt x="14668" y="5596128"/>
                  </a:cubicBezTo>
                  <a:cubicBezTo>
                    <a:pt x="-4890" y="5552948"/>
                    <a:pt x="-4890" y="5497576"/>
                    <a:pt x="14668" y="5454396"/>
                  </a:cubicBezTo>
                  <a:cubicBezTo>
                    <a:pt x="14668" y="5454396"/>
                    <a:pt x="14668" y="5454396"/>
                    <a:pt x="314769" y="4761611"/>
                  </a:cubicBezTo>
                  <a:cubicBezTo>
                    <a:pt x="334327" y="4716780"/>
                    <a:pt x="369252" y="4688967"/>
                    <a:pt x="408368" y="4688967"/>
                  </a:cubicBezTo>
                  <a:close/>
                  <a:moveTo>
                    <a:pt x="2799015" y="855218"/>
                  </a:moveTo>
                  <a:cubicBezTo>
                    <a:pt x="2799015" y="855218"/>
                    <a:pt x="2799015" y="855218"/>
                    <a:pt x="3108387" y="855218"/>
                  </a:cubicBezTo>
                  <a:lnTo>
                    <a:pt x="3144455" y="855218"/>
                  </a:lnTo>
                  <a:lnTo>
                    <a:pt x="3178872" y="934339"/>
                  </a:lnTo>
                  <a:cubicBezTo>
                    <a:pt x="3226878" y="1044575"/>
                    <a:pt x="3282630" y="1172718"/>
                    <a:pt x="3347527" y="1321943"/>
                  </a:cubicBezTo>
                  <a:cubicBezTo>
                    <a:pt x="3377372" y="1388110"/>
                    <a:pt x="3377372" y="1472819"/>
                    <a:pt x="3347527" y="1538859"/>
                  </a:cubicBezTo>
                  <a:cubicBezTo>
                    <a:pt x="3347527" y="1538859"/>
                    <a:pt x="3347527" y="1538859"/>
                    <a:pt x="2885883" y="2599817"/>
                  </a:cubicBezTo>
                  <a:cubicBezTo>
                    <a:pt x="2857943" y="2668651"/>
                    <a:pt x="2802317" y="2710942"/>
                    <a:pt x="2744659" y="2710942"/>
                  </a:cubicBezTo>
                  <a:cubicBezTo>
                    <a:pt x="2744659" y="2710942"/>
                    <a:pt x="2744659" y="2710942"/>
                    <a:pt x="1823401" y="2710942"/>
                  </a:cubicBezTo>
                  <a:cubicBezTo>
                    <a:pt x="1808415" y="2710942"/>
                    <a:pt x="1793937" y="2708275"/>
                    <a:pt x="1779967" y="2703195"/>
                  </a:cubicBezTo>
                  <a:lnTo>
                    <a:pt x="1750122" y="2686558"/>
                  </a:lnTo>
                  <a:lnTo>
                    <a:pt x="1768410" y="2644394"/>
                  </a:lnTo>
                  <a:cubicBezTo>
                    <a:pt x="1933256" y="2263902"/>
                    <a:pt x="2144203" y="1776984"/>
                    <a:pt x="2414332" y="1153541"/>
                  </a:cubicBezTo>
                  <a:cubicBezTo>
                    <a:pt x="2494469" y="968756"/>
                    <a:pt x="2638741" y="855091"/>
                    <a:pt x="2799142" y="855091"/>
                  </a:cubicBezTo>
                  <a:lnTo>
                    <a:pt x="2799015" y="855091"/>
                  </a:lnTo>
                  <a:close/>
                  <a:moveTo>
                    <a:pt x="1768791" y="0"/>
                  </a:moveTo>
                  <a:cubicBezTo>
                    <a:pt x="1768791" y="0"/>
                    <a:pt x="1768791" y="0"/>
                    <a:pt x="2808032" y="0"/>
                  </a:cubicBezTo>
                  <a:cubicBezTo>
                    <a:pt x="2873183" y="0"/>
                    <a:pt x="2935921" y="47752"/>
                    <a:pt x="2967417" y="125349"/>
                  </a:cubicBezTo>
                  <a:cubicBezTo>
                    <a:pt x="2967417" y="125349"/>
                    <a:pt x="2967417" y="125349"/>
                    <a:pt x="3246690" y="767334"/>
                  </a:cubicBezTo>
                  <a:lnTo>
                    <a:pt x="3278185" y="839851"/>
                  </a:lnTo>
                  <a:lnTo>
                    <a:pt x="3253293" y="839851"/>
                  </a:lnTo>
                  <a:lnTo>
                    <a:pt x="3135946" y="839851"/>
                  </a:lnTo>
                  <a:lnTo>
                    <a:pt x="3084892" y="722630"/>
                  </a:lnTo>
                  <a:cubicBezTo>
                    <a:pt x="2890201" y="275082"/>
                    <a:pt x="2890201" y="275082"/>
                    <a:pt x="2890201" y="275082"/>
                  </a:cubicBezTo>
                  <a:cubicBezTo>
                    <a:pt x="2862261" y="206248"/>
                    <a:pt x="2806635" y="163957"/>
                    <a:pt x="2748977" y="163957"/>
                  </a:cubicBezTo>
                  <a:cubicBezTo>
                    <a:pt x="1827719" y="163957"/>
                    <a:pt x="1827719" y="163957"/>
                    <a:pt x="1827719" y="163957"/>
                  </a:cubicBezTo>
                  <a:cubicBezTo>
                    <a:pt x="1768029" y="163957"/>
                    <a:pt x="1714308" y="206248"/>
                    <a:pt x="1684463" y="275082"/>
                  </a:cubicBezTo>
                  <a:cubicBezTo>
                    <a:pt x="1224723" y="1336040"/>
                    <a:pt x="1224723" y="1336040"/>
                    <a:pt x="1224723" y="1336040"/>
                  </a:cubicBezTo>
                  <a:cubicBezTo>
                    <a:pt x="1194879" y="1402207"/>
                    <a:pt x="1194879" y="1486916"/>
                    <a:pt x="1224723" y="1552956"/>
                  </a:cubicBezTo>
                  <a:cubicBezTo>
                    <a:pt x="1684336" y="2613914"/>
                    <a:pt x="1684336" y="2613914"/>
                    <a:pt x="1684336" y="2613914"/>
                  </a:cubicBezTo>
                  <a:cubicBezTo>
                    <a:pt x="1699322" y="2648331"/>
                    <a:pt x="1720150" y="2676144"/>
                    <a:pt x="1744788" y="2695321"/>
                  </a:cubicBezTo>
                  <a:lnTo>
                    <a:pt x="1751773" y="2699258"/>
                  </a:lnTo>
                  <a:lnTo>
                    <a:pt x="1714308" y="2785745"/>
                  </a:lnTo>
                  <a:lnTo>
                    <a:pt x="1686368" y="2850134"/>
                  </a:lnTo>
                  <a:lnTo>
                    <a:pt x="1715324" y="2866390"/>
                  </a:lnTo>
                  <a:cubicBezTo>
                    <a:pt x="1731072" y="2872105"/>
                    <a:pt x="1747455" y="2875026"/>
                    <a:pt x="1764219" y="2875026"/>
                  </a:cubicBezTo>
                  <a:cubicBezTo>
                    <a:pt x="2803460" y="2875026"/>
                    <a:pt x="2803460" y="2875026"/>
                    <a:pt x="2803460" y="2875026"/>
                  </a:cubicBezTo>
                  <a:cubicBezTo>
                    <a:pt x="2868611" y="2875026"/>
                    <a:pt x="2931349" y="2827274"/>
                    <a:pt x="2962845" y="2749677"/>
                  </a:cubicBezTo>
                  <a:cubicBezTo>
                    <a:pt x="3483545" y="1552956"/>
                    <a:pt x="3483545" y="1552956"/>
                    <a:pt x="3483545" y="1552956"/>
                  </a:cubicBezTo>
                  <a:cubicBezTo>
                    <a:pt x="3517199" y="1478407"/>
                    <a:pt x="3517199" y="1382776"/>
                    <a:pt x="3483545" y="1308227"/>
                  </a:cubicBezTo>
                  <a:cubicBezTo>
                    <a:pt x="3418393" y="1158621"/>
                    <a:pt x="3361497" y="1027684"/>
                    <a:pt x="3311586" y="913257"/>
                  </a:cubicBezTo>
                  <a:lnTo>
                    <a:pt x="3286440" y="855472"/>
                  </a:lnTo>
                  <a:lnTo>
                    <a:pt x="3403027" y="855472"/>
                  </a:lnTo>
                  <a:cubicBezTo>
                    <a:pt x="3765484" y="855472"/>
                    <a:pt x="4345493" y="855472"/>
                    <a:pt x="5273355" y="855472"/>
                  </a:cubicBezTo>
                  <a:cubicBezTo>
                    <a:pt x="5428295" y="855472"/>
                    <a:pt x="5578028" y="969137"/>
                    <a:pt x="5652831" y="1153922"/>
                  </a:cubicBezTo>
                  <a:cubicBezTo>
                    <a:pt x="5652831" y="1153922"/>
                    <a:pt x="5652831" y="1153922"/>
                    <a:pt x="6892858" y="4003548"/>
                  </a:cubicBezTo>
                  <a:cubicBezTo>
                    <a:pt x="6972995" y="4181222"/>
                    <a:pt x="6972995" y="4408678"/>
                    <a:pt x="6892858" y="4586224"/>
                  </a:cubicBezTo>
                  <a:cubicBezTo>
                    <a:pt x="6892858" y="4586224"/>
                    <a:pt x="6892858" y="4586224"/>
                    <a:pt x="5652831" y="7435851"/>
                  </a:cubicBezTo>
                  <a:cubicBezTo>
                    <a:pt x="5578028" y="7620636"/>
                    <a:pt x="5428422" y="7734301"/>
                    <a:pt x="5273355" y="7734301"/>
                  </a:cubicBezTo>
                  <a:cubicBezTo>
                    <a:pt x="5273355" y="7734301"/>
                    <a:pt x="5273355" y="7734301"/>
                    <a:pt x="2798761" y="7734301"/>
                  </a:cubicBezTo>
                  <a:cubicBezTo>
                    <a:pt x="2638360" y="7734301"/>
                    <a:pt x="2494088" y="7620636"/>
                    <a:pt x="2413951" y="7435851"/>
                  </a:cubicBezTo>
                  <a:cubicBezTo>
                    <a:pt x="2413951" y="7435851"/>
                    <a:pt x="2413951" y="7435851"/>
                    <a:pt x="1179257" y="4586224"/>
                  </a:cubicBezTo>
                  <a:cubicBezTo>
                    <a:pt x="1099121" y="4408551"/>
                    <a:pt x="1099121" y="4181094"/>
                    <a:pt x="1179257" y="4003548"/>
                  </a:cubicBezTo>
                  <a:cubicBezTo>
                    <a:pt x="1179257" y="4003548"/>
                    <a:pt x="1179257" y="4003548"/>
                    <a:pt x="1637727" y="2945511"/>
                  </a:cubicBezTo>
                  <a:lnTo>
                    <a:pt x="1676462" y="2856230"/>
                  </a:lnTo>
                  <a:lnTo>
                    <a:pt x="1675192" y="2855468"/>
                  </a:lnTo>
                  <a:cubicBezTo>
                    <a:pt x="1647379" y="2833878"/>
                    <a:pt x="1623884" y="2802509"/>
                    <a:pt x="1606993" y="2763774"/>
                  </a:cubicBezTo>
                  <a:cubicBezTo>
                    <a:pt x="1606993" y="2763774"/>
                    <a:pt x="1606993" y="2763774"/>
                    <a:pt x="1088580" y="1567053"/>
                  </a:cubicBezTo>
                  <a:cubicBezTo>
                    <a:pt x="1054924" y="1492504"/>
                    <a:pt x="1054924" y="1396873"/>
                    <a:pt x="1088580" y="1322324"/>
                  </a:cubicBezTo>
                  <a:cubicBezTo>
                    <a:pt x="1088580" y="1322324"/>
                    <a:pt x="1088580" y="1322324"/>
                    <a:pt x="1606993" y="125603"/>
                  </a:cubicBezTo>
                  <a:cubicBezTo>
                    <a:pt x="1640902" y="47752"/>
                    <a:pt x="1701354" y="0"/>
                    <a:pt x="1768791" y="0"/>
                  </a:cubicBezTo>
                  <a:close/>
                </a:path>
              </a:pathLst>
            </a:custGeom>
            <a:solidFill>
              <a:srgbClr val="808080">
                <a:alpha val="1961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364879" y="3186817"/>
            <a:ext cx="4805267" cy="5138299"/>
            <a:chOff x="0" y="0"/>
            <a:chExt cx="6407023" cy="68510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407023" cy="6851015"/>
            </a:xfrm>
            <a:custGeom>
              <a:avLst/>
              <a:gdLst/>
              <a:ahLst/>
              <a:cxnLst/>
              <a:rect l="l" t="t" r="r" b="b"/>
              <a:pathLst>
                <a:path w="6407023" h="6851015">
                  <a:moveTo>
                    <a:pt x="0" y="0"/>
                  </a:moveTo>
                  <a:lnTo>
                    <a:pt x="6407023" y="0"/>
                  </a:lnTo>
                  <a:lnTo>
                    <a:pt x="6407023" y="6851015"/>
                  </a:lnTo>
                  <a:lnTo>
                    <a:pt x="0" y="6851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4950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972" y="3130982"/>
            <a:ext cx="116415" cy="116415"/>
            <a:chOff x="0" y="0"/>
            <a:chExt cx="116421" cy="1164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6463" cy="116209"/>
            </a:xfrm>
            <a:custGeom>
              <a:avLst/>
              <a:gdLst/>
              <a:ahLst/>
              <a:cxnLst/>
              <a:rect l="l" t="t" r="r" b="b"/>
              <a:pathLst>
                <a:path w="116463" h="116209">
                  <a:moveTo>
                    <a:pt x="116463" y="58168"/>
                  </a:moveTo>
                  <a:cubicBezTo>
                    <a:pt x="116463" y="61978"/>
                    <a:pt x="116082" y="65788"/>
                    <a:pt x="115320" y="69471"/>
                  </a:cubicBezTo>
                  <a:cubicBezTo>
                    <a:pt x="114558" y="73154"/>
                    <a:pt x="113415" y="76838"/>
                    <a:pt x="112018" y="80394"/>
                  </a:cubicBezTo>
                  <a:cubicBezTo>
                    <a:pt x="110621" y="83950"/>
                    <a:pt x="108716" y="87252"/>
                    <a:pt x="106684" y="90427"/>
                  </a:cubicBezTo>
                  <a:cubicBezTo>
                    <a:pt x="104652" y="93602"/>
                    <a:pt x="102112" y="96523"/>
                    <a:pt x="99445" y="99190"/>
                  </a:cubicBezTo>
                  <a:cubicBezTo>
                    <a:pt x="96777" y="101857"/>
                    <a:pt x="93856" y="104271"/>
                    <a:pt x="90681" y="106430"/>
                  </a:cubicBezTo>
                  <a:cubicBezTo>
                    <a:pt x="87506" y="108589"/>
                    <a:pt x="84204" y="110367"/>
                    <a:pt x="80648" y="111764"/>
                  </a:cubicBezTo>
                  <a:cubicBezTo>
                    <a:pt x="77092" y="113161"/>
                    <a:pt x="73536" y="114304"/>
                    <a:pt x="69725" y="115066"/>
                  </a:cubicBezTo>
                  <a:cubicBezTo>
                    <a:pt x="65915" y="115828"/>
                    <a:pt x="62232" y="116209"/>
                    <a:pt x="58422" y="116209"/>
                  </a:cubicBezTo>
                  <a:cubicBezTo>
                    <a:pt x="54612" y="116209"/>
                    <a:pt x="50802" y="115828"/>
                    <a:pt x="47119" y="115066"/>
                  </a:cubicBezTo>
                  <a:cubicBezTo>
                    <a:pt x="43436" y="114304"/>
                    <a:pt x="39752" y="113161"/>
                    <a:pt x="36196" y="111764"/>
                  </a:cubicBezTo>
                  <a:cubicBezTo>
                    <a:pt x="32640" y="110367"/>
                    <a:pt x="29338" y="108462"/>
                    <a:pt x="26163" y="106430"/>
                  </a:cubicBezTo>
                  <a:cubicBezTo>
                    <a:pt x="22988" y="104398"/>
                    <a:pt x="20067" y="101857"/>
                    <a:pt x="17400" y="99190"/>
                  </a:cubicBezTo>
                  <a:cubicBezTo>
                    <a:pt x="14733" y="96523"/>
                    <a:pt x="12319" y="93602"/>
                    <a:pt x="10160" y="90427"/>
                  </a:cubicBezTo>
                  <a:cubicBezTo>
                    <a:pt x="8001" y="87252"/>
                    <a:pt x="6223" y="83950"/>
                    <a:pt x="4826" y="80394"/>
                  </a:cubicBezTo>
                  <a:cubicBezTo>
                    <a:pt x="3429" y="76838"/>
                    <a:pt x="2286" y="73282"/>
                    <a:pt x="1524" y="69471"/>
                  </a:cubicBezTo>
                  <a:cubicBezTo>
                    <a:pt x="762" y="65661"/>
                    <a:pt x="0" y="61978"/>
                    <a:pt x="0" y="58168"/>
                  </a:cubicBezTo>
                  <a:cubicBezTo>
                    <a:pt x="0" y="54358"/>
                    <a:pt x="381" y="50548"/>
                    <a:pt x="1143" y="46865"/>
                  </a:cubicBezTo>
                  <a:cubicBezTo>
                    <a:pt x="1905" y="43181"/>
                    <a:pt x="3048" y="39498"/>
                    <a:pt x="4445" y="35942"/>
                  </a:cubicBezTo>
                  <a:cubicBezTo>
                    <a:pt x="5842" y="32386"/>
                    <a:pt x="7747" y="29084"/>
                    <a:pt x="9779" y="25909"/>
                  </a:cubicBezTo>
                  <a:cubicBezTo>
                    <a:pt x="11811" y="22734"/>
                    <a:pt x="14352" y="19813"/>
                    <a:pt x="17019" y="17146"/>
                  </a:cubicBezTo>
                  <a:cubicBezTo>
                    <a:pt x="19686" y="14478"/>
                    <a:pt x="22607" y="12065"/>
                    <a:pt x="25782" y="9906"/>
                  </a:cubicBezTo>
                  <a:cubicBezTo>
                    <a:pt x="28957" y="7747"/>
                    <a:pt x="32259" y="5969"/>
                    <a:pt x="35815" y="4572"/>
                  </a:cubicBezTo>
                  <a:cubicBezTo>
                    <a:pt x="39371" y="3175"/>
                    <a:pt x="42928" y="2032"/>
                    <a:pt x="46738" y="1270"/>
                  </a:cubicBezTo>
                  <a:cubicBezTo>
                    <a:pt x="50548" y="508"/>
                    <a:pt x="54358" y="0"/>
                    <a:pt x="58168" y="0"/>
                  </a:cubicBezTo>
                  <a:cubicBezTo>
                    <a:pt x="61978" y="0"/>
                    <a:pt x="65788" y="381"/>
                    <a:pt x="69471" y="1143"/>
                  </a:cubicBezTo>
                  <a:cubicBezTo>
                    <a:pt x="73155" y="1905"/>
                    <a:pt x="76838" y="3048"/>
                    <a:pt x="80394" y="4445"/>
                  </a:cubicBezTo>
                  <a:cubicBezTo>
                    <a:pt x="83950" y="5842"/>
                    <a:pt x="87252" y="7747"/>
                    <a:pt x="90427" y="9779"/>
                  </a:cubicBezTo>
                  <a:cubicBezTo>
                    <a:pt x="93602" y="11811"/>
                    <a:pt x="96523" y="14351"/>
                    <a:pt x="99191" y="17019"/>
                  </a:cubicBezTo>
                  <a:cubicBezTo>
                    <a:pt x="101858" y="19686"/>
                    <a:pt x="104271" y="22607"/>
                    <a:pt x="106430" y="25782"/>
                  </a:cubicBezTo>
                  <a:cubicBezTo>
                    <a:pt x="108589" y="28957"/>
                    <a:pt x="110367" y="32259"/>
                    <a:pt x="111764" y="35815"/>
                  </a:cubicBezTo>
                  <a:cubicBezTo>
                    <a:pt x="113161" y="39371"/>
                    <a:pt x="114304" y="42927"/>
                    <a:pt x="115066" y="46738"/>
                  </a:cubicBezTo>
                  <a:cubicBezTo>
                    <a:pt x="115828" y="50548"/>
                    <a:pt x="116209" y="54231"/>
                    <a:pt x="116209" y="58041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972" y="3945893"/>
            <a:ext cx="116415" cy="116415"/>
            <a:chOff x="0" y="0"/>
            <a:chExt cx="116421" cy="11642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6463" cy="116209"/>
            </a:xfrm>
            <a:custGeom>
              <a:avLst/>
              <a:gdLst/>
              <a:ahLst/>
              <a:cxnLst/>
              <a:rect l="l" t="t" r="r" b="b"/>
              <a:pathLst>
                <a:path w="116463" h="116209">
                  <a:moveTo>
                    <a:pt x="116463" y="58168"/>
                  </a:moveTo>
                  <a:cubicBezTo>
                    <a:pt x="116463" y="61978"/>
                    <a:pt x="116082" y="65788"/>
                    <a:pt x="115320" y="69472"/>
                  </a:cubicBezTo>
                  <a:cubicBezTo>
                    <a:pt x="114558" y="73155"/>
                    <a:pt x="113415" y="76838"/>
                    <a:pt x="112018" y="80394"/>
                  </a:cubicBezTo>
                  <a:cubicBezTo>
                    <a:pt x="110621" y="83950"/>
                    <a:pt x="108716" y="87252"/>
                    <a:pt x="106684" y="90427"/>
                  </a:cubicBezTo>
                  <a:cubicBezTo>
                    <a:pt x="104652" y="93603"/>
                    <a:pt x="102112" y="96524"/>
                    <a:pt x="99445" y="99191"/>
                  </a:cubicBezTo>
                  <a:cubicBezTo>
                    <a:pt x="96777" y="101858"/>
                    <a:pt x="93856" y="104271"/>
                    <a:pt x="90681" y="106430"/>
                  </a:cubicBezTo>
                  <a:cubicBezTo>
                    <a:pt x="87506" y="108589"/>
                    <a:pt x="84204" y="110367"/>
                    <a:pt x="80648" y="111764"/>
                  </a:cubicBezTo>
                  <a:cubicBezTo>
                    <a:pt x="77092" y="113161"/>
                    <a:pt x="73536" y="114304"/>
                    <a:pt x="69725" y="115066"/>
                  </a:cubicBezTo>
                  <a:cubicBezTo>
                    <a:pt x="65915" y="115828"/>
                    <a:pt x="62232" y="116209"/>
                    <a:pt x="58422" y="116209"/>
                  </a:cubicBezTo>
                  <a:cubicBezTo>
                    <a:pt x="54612" y="116209"/>
                    <a:pt x="50802" y="115828"/>
                    <a:pt x="47119" y="115066"/>
                  </a:cubicBezTo>
                  <a:cubicBezTo>
                    <a:pt x="43436" y="114304"/>
                    <a:pt x="39752" y="113161"/>
                    <a:pt x="36196" y="111764"/>
                  </a:cubicBezTo>
                  <a:cubicBezTo>
                    <a:pt x="32640" y="110367"/>
                    <a:pt x="29338" y="108462"/>
                    <a:pt x="26163" y="106430"/>
                  </a:cubicBezTo>
                  <a:cubicBezTo>
                    <a:pt x="22988" y="104398"/>
                    <a:pt x="20067" y="101858"/>
                    <a:pt x="17400" y="99191"/>
                  </a:cubicBezTo>
                  <a:cubicBezTo>
                    <a:pt x="14733" y="96524"/>
                    <a:pt x="12319" y="93603"/>
                    <a:pt x="10160" y="90427"/>
                  </a:cubicBezTo>
                  <a:cubicBezTo>
                    <a:pt x="8001" y="87252"/>
                    <a:pt x="6223" y="83950"/>
                    <a:pt x="4826" y="80394"/>
                  </a:cubicBezTo>
                  <a:cubicBezTo>
                    <a:pt x="3429" y="76838"/>
                    <a:pt x="2286" y="73282"/>
                    <a:pt x="1524" y="69472"/>
                  </a:cubicBezTo>
                  <a:cubicBezTo>
                    <a:pt x="762" y="65661"/>
                    <a:pt x="0" y="61978"/>
                    <a:pt x="0" y="58168"/>
                  </a:cubicBezTo>
                  <a:cubicBezTo>
                    <a:pt x="0" y="54358"/>
                    <a:pt x="381" y="50548"/>
                    <a:pt x="1143" y="46865"/>
                  </a:cubicBezTo>
                  <a:cubicBezTo>
                    <a:pt x="1905" y="43182"/>
                    <a:pt x="3048" y="39498"/>
                    <a:pt x="4445" y="35942"/>
                  </a:cubicBezTo>
                  <a:cubicBezTo>
                    <a:pt x="5842" y="32386"/>
                    <a:pt x="7747" y="29084"/>
                    <a:pt x="9779" y="25909"/>
                  </a:cubicBezTo>
                  <a:cubicBezTo>
                    <a:pt x="11811" y="22734"/>
                    <a:pt x="14352" y="19813"/>
                    <a:pt x="17019" y="17146"/>
                  </a:cubicBezTo>
                  <a:cubicBezTo>
                    <a:pt x="19686" y="14479"/>
                    <a:pt x="22607" y="12065"/>
                    <a:pt x="25782" y="9906"/>
                  </a:cubicBezTo>
                  <a:cubicBezTo>
                    <a:pt x="28957" y="7747"/>
                    <a:pt x="32259" y="5969"/>
                    <a:pt x="35815" y="4572"/>
                  </a:cubicBezTo>
                  <a:cubicBezTo>
                    <a:pt x="39371" y="3175"/>
                    <a:pt x="42928" y="2032"/>
                    <a:pt x="46738" y="1270"/>
                  </a:cubicBezTo>
                  <a:cubicBezTo>
                    <a:pt x="50548" y="508"/>
                    <a:pt x="54358" y="0"/>
                    <a:pt x="58168" y="0"/>
                  </a:cubicBezTo>
                  <a:cubicBezTo>
                    <a:pt x="61978" y="0"/>
                    <a:pt x="65788" y="381"/>
                    <a:pt x="69471" y="1143"/>
                  </a:cubicBezTo>
                  <a:cubicBezTo>
                    <a:pt x="73155" y="1905"/>
                    <a:pt x="76838" y="3048"/>
                    <a:pt x="80394" y="4445"/>
                  </a:cubicBezTo>
                  <a:cubicBezTo>
                    <a:pt x="83950" y="5842"/>
                    <a:pt x="87252" y="7747"/>
                    <a:pt x="90427" y="9779"/>
                  </a:cubicBezTo>
                  <a:cubicBezTo>
                    <a:pt x="93602" y="11811"/>
                    <a:pt x="96523" y="14352"/>
                    <a:pt x="99191" y="17019"/>
                  </a:cubicBezTo>
                  <a:cubicBezTo>
                    <a:pt x="101858" y="19686"/>
                    <a:pt x="104271" y="22607"/>
                    <a:pt x="106430" y="25782"/>
                  </a:cubicBezTo>
                  <a:cubicBezTo>
                    <a:pt x="108589" y="28957"/>
                    <a:pt x="110367" y="32259"/>
                    <a:pt x="111764" y="35815"/>
                  </a:cubicBezTo>
                  <a:cubicBezTo>
                    <a:pt x="113161" y="39371"/>
                    <a:pt x="114304" y="42928"/>
                    <a:pt x="115066" y="46738"/>
                  </a:cubicBezTo>
                  <a:cubicBezTo>
                    <a:pt x="115828" y="50548"/>
                    <a:pt x="116209" y="54231"/>
                    <a:pt x="116209" y="58041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972" y="5570439"/>
            <a:ext cx="116415" cy="116415"/>
            <a:chOff x="0" y="0"/>
            <a:chExt cx="116421" cy="11642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16463" cy="116209"/>
            </a:xfrm>
            <a:custGeom>
              <a:avLst/>
              <a:gdLst/>
              <a:ahLst/>
              <a:cxnLst/>
              <a:rect l="l" t="t" r="r" b="b"/>
              <a:pathLst>
                <a:path w="116463" h="116209">
                  <a:moveTo>
                    <a:pt x="116463" y="58168"/>
                  </a:moveTo>
                  <a:cubicBezTo>
                    <a:pt x="116463" y="61978"/>
                    <a:pt x="116082" y="65788"/>
                    <a:pt x="115320" y="69471"/>
                  </a:cubicBezTo>
                  <a:cubicBezTo>
                    <a:pt x="114558" y="73154"/>
                    <a:pt x="113415" y="76838"/>
                    <a:pt x="112018" y="80394"/>
                  </a:cubicBezTo>
                  <a:cubicBezTo>
                    <a:pt x="110621" y="83950"/>
                    <a:pt x="108716" y="87252"/>
                    <a:pt x="106684" y="90427"/>
                  </a:cubicBezTo>
                  <a:cubicBezTo>
                    <a:pt x="104652" y="93602"/>
                    <a:pt x="102112" y="96523"/>
                    <a:pt x="99445" y="99190"/>
                  </a:cubicBezTo>
                  <a:cubicBezTo>
                    <a:pt x="96777" y="101857"/>
                    <a:pt x="93856" y="104271"/>
                    <a:pt x="90681" y="106430"/>
                  </a:cubicBezTo>
                  <a:cubicBezTo>
                    <a:pt x="87506" y="108589"/>
                    <a:pt x="84204" y="110367"/>
                    <a:pt x="80648" y="111764"/>
                  </a:cubicBezTo>
                  <a:cubicBezTo>
                    <a:pt x="77092" y="113161"/>
                    <a:pt x="73536" y="114304"/>
                    <a:pt x="69725" y="115066"/>
                  </a:cubicBezTo>
                  <a:cubicBezTo>
                    <a:pt x="65915" y="115828"/>
                    <a:pt x="62232" y="116209"/>
                    <a:pt x="58422" y="116209"/>
                  </a:cubicBezTo>
                  <a:cubicBezTo>
                    <a:pt x="54612" y="116209"/>
                    <a:pt x="50802" y="115828"/>
                    <a:pt x="47119" y="115066"/>
                  </a:cubicBezTo>
                  <a:cubicBezTo>
                    <a:pt x="43436" y="114304"/>
                    <a:pt x="39752" y="113161"/>
                    <a:pt x="36196" y="111764"/>
                  </a:cubicBezTo>
                  <a:cubicBezTo>
                    <a:pt x="32640" y="110367"/>
                    <a:pt x="29338" y="108462"/>
                    <a:pt x="26163" y="106430"/>
                  </a:cubicBezTo>
                  <a:cubicBezTo>
                    <a:pt x="22988" y="104398"/>
                    <a:pt x="20067" y="101857"/>
                    <a:pt x="17400" y="99190"/>
                  </a:cubicBezTo>
                  <a:cubicBezTo>
                    <a:pt x="14733" y="96523"/>
                    <a:pt x="12319" y="93602"/>
                    <a:pt x="10160" y="90427"/>
                  </a:cubicBezTo>
                  <a:cubicBezTo>
                    <a:pt x="8001" y="87252"/>
                    <a:pt x="6223" y="83950"/>
                    <a:pt x="4826" y="80394"/>
                  </a:cubicBezTo>
                  <a:cubicBezTo>
                    <a:pt x="3429" y="76838"/>
                    <a:pt x="2286" y="73282"/>
                    <a:pt x="1524" y="69471"/>
                  </a:cubicBezTo>
                  <a:cubicBezTo>
                    <a:pt x="762" y="65661"/>
                    <a:pt x="0" y="61978"/>
                    <a:pt x="0" y="58168"/>
                  </a:cubicBezTo>
                  <a:cubicBezTo>
                    <a:pt x="0" y="54358"/>
                    <a:pt x="381" y="50548"/>
                    <a:pt x="1143" y="46865"/>
                  </a:cubicBezTo>
                  <a:cubicBezTo>
                    <a:pt x="1905" y="43181"/>
                    <a:pt x="3048" y="39498"/>
                    <a:pt x="4445" y="35942"/>
                  </a:cubicBezTo>
                  <a:cubicBezTo>
                    <a:pt x="5842" y="32386"/>
                    <a:pt x="7747" y="29084"/>
                    <a:pt x="9779" y="25909"/>
                  </a:cubicBezTo>
                  <a:cubicBezTo>
                    <a:pt x="11811" y="22734"/>
                    <a:pt x="14352" y="19813"/>
                    <a:pt x="17019" y="17146"/>
                  </a:cubicBezTo>
                  <a:cubicBezTo>
                    <a:pt x="19686" y="14478"/>
                    <a:pt x="22607" y="12065"/>
                    <a:pt x="25782" y="9906"/>
                  </a:cubicBezTo>
                  <a:cubicBezTo>
                    <a:pt x="28957" y="7747"/>
                    <a:pt x="32259" y="5969"/>
                    <a:pt x="35815" y="4572"/>
                  </a:cubicBezTo>
                  <a:cubicBezTo>
                    <a:pt x="39371" y="3175"/>
                    <a:pt x="42928" y="2032"/>
                    <a:pt x="46738" y="1270"/>
                  </a:cubicBezTo>
                  <a:cubicBezTo>
                    <a:pt x="50548" y="508"/>
                    <a:pt x="54358" y="0"/>
                    <a:pt x="58168" y="0"/>
                  </a:cubicBezTo>
                  <a:cubicBezTo>
                    <a:pt x="61978" y="0"/>
                    <a:pt x="65788" y="381"/>
                    <a:pt x="69471" y="1143"/>
                  </a:cubicBezTo>
                  <a:cubicBezTo>
                    <a:pt x="73155" y="1905"/>
                    <a:pt x="76838" y="3048"/>
                    <a:pt x="80394" y="4445"/>
                  </a:cubicBezTo>
                  <a:cubicBezTo>
                    <a:pt x="83950" y="5842"/>
                    <a:pt x="87252" y="7747"/>
                    <a:pt x="90427" y="9779"/>
                  </a:cubicBezTo>
                  <a:cubicBezTo>
                    <a:pt x="93602" y="11811"/>
                    <a:pt x="96523" y="14351"/>
                    <a:pt x="99191" y="17019"/>
                  </a:cubicBezTo>
                  <a:cubicBezTo>
                    <a:pt x="101858" y="19686"/>
                    <a:pt x="104271" y="22607"/>
                    <a:pt x="106430" y="25782"/>
                  </a:cubicBezTo>
                  <a:cubicBezTo>
                    <a:pt x="108589" y="28957"/>
                    <a:pt x="110367" y="32259"/>
                    <a:pt x="111764" y="35815"/>
                  </a:cubicBezTo>
                  <a:cubicBezTo>
                    <a:pt x="113161" y="39371"/>
                    <a:pt x="114304" y="42927"/>
                    <a:pt x="115066" y="46738"/>
                  </a:cubicBezTo>
                  <a:cubicBezTo>
                    <a:pt x="115828" y="50548"/>
                    <a:pt x="116209" y="54231"/>
                    <a:pt x="116209" y="58041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972" y="7105021"/>
            <a:ext cx="116415" cy="116415"/>
            <a:chOff x="0" y="0"/>
            <a:chExt cx="116421" cy="11642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6463" cy="116209"/>
            </a:xfrm>
            <a:custGeom>
              <a:avLst/>
              <a:gdLst/>
              <a:ahLst/>
              <a:cxnLst/>
              <a:rect l="l" t="t" r="r" b="b"/>
              <a:pathLst>
                <a:path w="116463" h="116209">
                  <a:moveTo>
                    <a:pt x="116463" y="58168"/>
                  </a:moveTo>
                  <a:cubicBezTo>
                    <a:pt x="116463" y="61978"/>
                    <a:pt x="116082" y="65788"/>
                    <a:pt x="115320" y="69471"/>
                  </a:cubicBezTo>
                  <a:cubicBezTo>
                    <a:pt x="114558" y="73154"/>
                    <a:pt x="113415" y="76838"/>
                    <a:pt x="112018" y="80394"/>
                  </a:cubicBezTo>
                  <a:cubicBezTo>
                    <a:pt x="110621" y="83950"/>
                    <a:pt x="108716" y="87252"/>
                    <a:pt x="106684" y="90427"/>
                  </a:cubicBezTo>
                  <a:cubicBezTo>
                    <a:pt x="104652" y="93602"/>
                    <a:pt x="102112" y="96523"/>
                    <a:pt x="99445" y="99190"/>
                  </a:cubicBezTo>
                  <a:cubicBezTo>
                    <a:pt x="96777" y="101857"/>
                    <a:pt x="93856" y="104271"/>
                    <a:pt x="90681" y="106430"/>
                  </a:cubicBezTo>
                  <a:cubicBezTo>
                    <a:pt x="87506" y="108589"/>
                    <a:pt x="84204" y="110367"/>
                    <a:pt x="80648" y="111764"/>
                  </a:cubicBezTo>
                  <a:cubicBezTo>
                    <a:pt x="77092" y="113161"/>
                    <a:pt x="73536" y="114304"/>
                    <a:pt x="69725" y="115066"/>
                  </a:cubicBezTo>
                  <a:cubicBezTo>
                    <a:pt x="65915" y="115828"/>
                    <a:pt x="62232" y="116209"/>
                    <a:pt x="58422" y="116209"/>
                  </a:cubicBezTo>
                  <a:cubicBezTo>
                    <a:pt x="54612" y="116209"/>
                    <a:pt x="50802" y="115828"/>
                    <a:pt x="47119" y="115066"/>
                  </a:cubicBezTo>
                  <a:cubicBezTo>
                    <a:pt x="43436" y="114304"/>
                    <a:pt x="39752" y="113161"/>
                    <a:pt x="36196" y="111764"/>
                  </a:cubicBezTo>
                  <a:cubicBezTo>
                    <a:pt x="32640" y="110367"/>
                    <a:pt x="29338" y="108462"/>
                    <a:pt x="26163" y="106430"/>
                  </a:cubicBezTo>
                  <a:cubicBezTo>
                    <a:pt x="22988" y="104398"/>
                    <a:pt x="20067" y="101857"/>
                    <a:pt x="17400" y="99190"/>
                  </a:cubicBezTo>
                  <a:cubicBezTo>
                    <a:pt x="14733" y="96523"/>
                    <a:pt x="12319" y="93602"/>
                    <a:pt x="10160" y="90427"/>
                  </a:cubicBezTo>
                  <a:cubicBezTo>
                    <a:pt x="8001" y="87252"/>
                    <a:pt x="6223" y="83950"/>
                    <a:pt x="4826" y="80394"/>
                  </a:cubicBezTo>
                  <a:cubicBezTo>
                    <a:pt x="3429" y="76838"/>
                    <a:pt x="2286" y="73282"/>
                    <a:pt x="1524" y="69471"/>
                  </a:cubicBezTo>
                  <a:cubicBezTo>
                    <a:pt x="762" y="65661"/>
                    <a:pt x="0" y="61978"/>
                    <a:pt x="0" y="58168"/>
                  </a:cubicBezTo>
                  <a:cubicBezTo>
                    <a:pt x="0" y="54358"/>
                    <a:pt x="381" y="50548"/>
                    <a:pt x="1143" y="46865"/>
                  </a:cubicBezTo>
                  <a:cubicBezTo>
                    <a:pt x="1905" y="43181"/>
                    <a:pt x="3048" y="39498"/>
                    <a:pt x="4445" y="35942"/>
                  </a:cubicBezTo>
                  <a:cubicBezTo>
                    <a:pt x="5842" y="32386"/>
                    <a:pt x="7747" y="29084"/>
                    <a:pt x="9779" y="25909"/>
                  </a:cubicBezTo>
                  <a:cubicBezTo>
                    <a:pt x="11811" y="22734"/>
                    <a:pt x="14352" y="19813"/>
                    <a:pt x="17019" y="17146"/>
                  </a:cubicBezTo>
                  <a:cubicBezTo>
                    <a:pt x="19686" y="14478"/>
                    <a:pt x="22607" y="12065"/>
                    <a:pt x="25782" y="9906"/>
                  </a:cubicBezTo>
                  <a:cubicBezTo>
                    <a:pt x="28957" y="7747"/>
                    <a:pt x="32259" y="5969"/>
                    <a:pt x="35815" y="4572"/>
                  </a:cubicBezTo>
                  <a:cubicBezTo>
                    <a:pt x="39371" y="3175"/>
                    <a:pt x="42928" y="2032"/>
                    <a:pt x="46738" y="1270"/>
                  </a:cubicBezTo>
                  <a:cubicBezTo>
                    <a:pt x="50548" y="508"/>
                    <a:pt x="54358" y="0"/>
                    <a:pt x="58168" y="0"/>
                  </a:cubicBezTo>
                  <a:cubicBezTo>
                    <a:pt x="61978" y="0"/>
                    <a:pt x="65788" y="381"/>
                    <a:pt x="69471" y="1143"/>
                  </a:cubicBezTo>
                  <a:cubicBezTo>
                    <a:pt x="73155" y="1905"/>
                    <a:pt x="76838" y="3048"/>
                    <a:pt x="80394" y="4445"/>
                  </a:cubicBezTo>
                  <a:cubicBezTo>
                    <a:pt x="83950" y="5842"/>
                    <a:pt x="87252" y="7747"/>
                    <a:pt x="90427" y="9779"/>
                  </a:cubicBezTo>
                  <a:cubicBezTo>
                    <a:pt x="93602" y="11811"/>
                    <a:pt x="96523" y="14351"/>
                    <a:pt x="99191" y="17019"/>
                  </a:cubicBezTo>
                  <a:cubicBezTo>
                    <a:pt x="101858" y="19686"/>
                    <a:pt x="104271" y="22607"/>
                    <a:pt x="106430" y="25782"/>
                  </a:cubicBezTo>
                  <a:cubicBezTo>
                    <a:pt x="108589" y="28957"/>
                    <a:pt x="110367" y="32259"/>
                    <a:pt x="111764" y="35815"/>
                  </a:cubicBezTo>
                  <a:cubicBezTo>
                    <a:pt x="113161" y="39371"/>
                    <a:pt x="114304" y="42927"/>
                    <a:pt x="115066" y="46738"/>
                  </a:cubicBezTo>
                  <a:cubicBezTo>
                    <a:pt x="115828" y="50548"/>
                    <a:pt x="116209" y="54231"/>
                    <a:pt x="116209" y="58041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14972" y="7919942"/>
            <a:ext cx="116415" cy="116415"/>
            <a:chOff x="0" y="0"/>
            <a:chExt cx="116421" cy="11642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6463" cy="116209"/>
            </a:xfrm>
            <a:custGeom>
              <a:avLst/>
              <a:gdLst/>
              <a:ahLst/>
              <a:cxnLst/>
              <a:rect l="l" t="t" r="r" b="b"/>
              <a:pathLst>
                <a:path w="116463" h="116209">
                  <a:moveTo>
                    <a:pt x="116463" y="58168"/>
                  </a:moveTo>
                  <a:cubicBezTo>
                    <a:pt x="116463" y="61978"/>
                    <a:pt x="116082" y="65788"/>
                    <a:pt x="115320" y="69471"/>
                  </a:cubicBezTo>
                  <a:cubicBezTo>
                    <a:pt x="114558" y="73155"/>
                    <a:pt x="113415" y="76838"/>
                    <a:pt x="112018" y="80394"/>
                  </a:cubicBezTo>
                  <a:cubicBezTo>
                    <a:pt x="110621" y="83950"/>
                    <a:pt x="108716" y="87252"/>
                    <a:pt x="106684" y="90427"/>
                  </a:cubicBezTo>
                  <a:cubicBezTo>
                    <a:pt x="104652" y="93602"/>
                    <a:pt x="102112" y="96523"/>
                    <a:pt x="99445" y="99191"/>
                  </a:cubicBezTo>
                  <a:cubicBezTo>
                    <a:pt x="96777" y="101858"/>
                    <a:pt x="93856" y="104271"/>
                    <a:pt x="90681" y="106430"/>
                  </a:cubicBezTo>
                  <a:cubicBezTo>
                    <a:pt x="87506" y="108589"/>
                    <a:pt x="84204" y="110367"/>
                    <a:pt x="80648" y="111764"/>
                  </a:cubicBezTo>
                  <a:cubicBezTo>
                    <a:pt x="77092" y="113161"/>
                    <a:pt x="73536" y="114304"/>
                    <a:pt x="69725" y="115066"/>
                  </a:cubicBezTo>
                  <a:cubicBezTo>
                    <a:pt x="65915" y="115828"/>
                    <a:pt x="62232" y="116209"/>
                    <a:pt x="58422" y="116209"/>
                  </a:cubicBezTo>
                  <a:cubicBezTo>
                    <a:pt x="54612" y="116209"/>
                    <a:pt x="50802" y="115828"/>
                    <a:pt x="47119" y="115066"/>
                  </a:cubicBezTo>
                  <a:cubicBezTo>
                    <a:pt x="43436" y="114304"/>
                    <a:pt x="39752" y="113161"/>
                    <a:pt x="36196" y="111764"/>
                  </a:cubicBezTo>
                  <a:cubicBezTo>
                    <a:pt x="32640" y="110367"/>
                    <a:pt x="29338" y="108462"/>
                    <a:pt x="26163" y="106430"/>
                  </a:cubicBezTo>
                  <a:cubicBezTo>
                    <a:pt x="22988" y="104398"/>
                    <a:pt x="20067" y="101858"/>
                    <a:pt x="17400" y="99191"/>
                  </a:cubicBezTo>
                  <a:cubicBezTo>
                    <a:pt x="14733" y="96523"/>
                    <a:pt x="12319" y="93602"/>
                    <a:pt x="10160" y="90427"/>
                  </a:cubicBezTo>
                  <a:cubicBezTo>
                    <a:pt x="8001" y="87252"/>
                    <a:pt x="6223" y="83950"/>
                    <a:pt x="4826" y="80394"/>
                  </a:cubicBezTo>
                  <a:cubicBezTo>
                    <a:pt x="3429" y="76838"/>
                    <a:pt x="2286" y="73282"/>
                    <a:pt x="1524" y="69471"/>
                  </a:cubicBezTo>
                  <a:cubicBezTo>
                    <a:pt x="762" y="65661"/>
                    <a:pt x="0" y="61978"/>
                    <a:pt x="0" y="58168"/>
                  </a:cubicBezTo>
                  <a:cubicBezTo>
                    <a:pt x="0" y="54358"/>
                    <a:pt x="381" y="50548"/>
                    <a:pt x="1143" y="46865"/>
                  </a:cubicBezTo>
                  <a:cubicBezTo>
                    <a:pt x="1905" y="43182"/>
                    <a:pt x="3048" y="39498"/>
                    <a:pt x="4445" y="35942"/>
                  </a:cubicBezTo>
                  <a:cubicBezTo>
                    <a:pt x="5842" y="32386"/>
                    <a:pt x="7747" y="29084"/>
                    <a:pt x="9779" y="25909"/>
                  </a:cubicBezTo>
                  <a:cubicBezTo>
                    <a:pt x="11811" y="22734"/>
                    <a:pt x="14352" y="19813"/>
                    <a:pt x="17019" y="17146"/>
                  </a:cubicBezTo>
                  <a:cubicBezTo>
                    <a:pt x="19686" y="14479"/>
                    <a:pt x="22607" y="12065"/>
                    <a:pt x="25782" y="9906"/>
                  </a:cubicBezTo>
                  <a:cubicBezTo>
                    <a:pt x="28957" y="7747"/>
                    <a:pt x="32259" y="5969"/>
                    <a:pt x="35815" y="4572"/>
                  </a:cubicBezTo>
                  <a:cubicBezTo>
                    <a:pt x="39371" y="3175"/>
                    <a:pt x="42928" y="2032"/>
                    <a:pt x="46738" y="1270"/>
                  </a:cubicBezTo>
                  <a:cubicBezTo>
                    <a:pt x="50548" y="508"/>
                    <a:pt x="54358" y="0"/>
                    <a:pt x="58168" y="0"/>
                  </a:cubicBezTo>
                  <a:cubicBezTo>
                    <a:pt x="61978" y="0"/>
                    <a:pt x="65788" y="381"/>
                    <a:pt x="69471" y="1143"/>
                  </a:cubicBezTo>
                  <a:cubicBezTo>
                    <a:pt x="73155" y="1905"/>
                    <a:pt x="76838" y="3048"/>
                    <a:pt x="80394" y="4445"/>
                  </a:cubicBezTo>
                  <a:cubicBezTo>
                    <a:pt x="83950" y="5842"/>
                    <a:pt x="87252" y="7747"/>
                    <a:pt x="90427" y="9779"/>
                  </a:cubicBezTo>
                  <a:cubicBezTo>
                    <a:pt x="93602" y="11811"/>
                    <a:pt x="96523" y="14352"/>
                    <a:pt x="99191" y="17019"/>
                  </a:cubicBezTo>
                  <a:cubicBezTo>
                    <a:pt x="101858" y="19686"/>
                    <a:pt x="104271" y="22607"/>
                    <a:pt x="106430" y="25782"/>
                  </a:cubicBezTo>
                  <a:cubicBezTo>
                    <a:pt x="108589" y="28957"/>
                    <a:pt x="110367" y="32259"/>
                    <a:pt x="111764" y="35815"/>
                  </a:cubicBezTo>
                  <a:cubicBezTo>
                    <a:pt x="113161" y="39371"/>
                    <a:pt x="114304" y="42928"/>
                    <a:pt x="115066" y="46738"/>
                  </a:cubicBezTo>
                  <a:cubicBezTo>
                    <a:pt x="115828" y="50548"/>
                    <a:pt x="116209" y="54231"/>
                    <a:pt x="116209" y="58041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14972" y="8734854"/>
            <a:ext cx="116415" cy="116415"/>
            <a:chOff x="0" y="0"/>
            <a:chExt cx="116421" cy="11642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6463" cy="116209"/>
            </a:xfrm>
            <a:custGeom>
              <a:avLst/>
              <a:gdLst/>
              <a:ahLst/>
              <a:cxnLst/>
              <a:rect l="l" t="t" r="r" b="b"/>
              <a:pathLst>
                <a:path w="116463" h="116209">
                  <a:moveTo>
                    <a:pt x="116463" y="58168"/>
                  </a:moveTo>
                  <a:cubicBezTo>
                    <a:pt x="116463" y="61978"/>
                    <a:pt x="116082" y="65788"/>
                    <a:pt x="115320" y="69472"/>
                  </a:cubicBezTo>
                  <a:cubicBezTo>
                    <a:pt x="114558" y="73155"/>
                    <a:pt x="113415" y="76838"/>
                    <a:pt x="112018" y="80394"/>
                  </a:cubicBezTo>
                  <a:cubicBezTo>
                    <a:pt x="110621" y="83950"/>
                    <a:pt x="108716" y="87252"/>
                    <a:pt x="106684" y="90427"/>
                  </a:cubicBezTo>
                  <a:cubicBezTo>
                    <a:pt x="104652" y="93602"/>
                    <a:pt x="102112" y="96524"/>
                    <a:pt x="99445" y="99191"/>
                  </a:cubicBezTo>
                  <a:cubicBezTo>
                    <a:pt x="96777" y="101858"/>
                    <a:pt x="93856" y="104271"/>
                    <a:pt x="90681" y="106430"/>
                  </a:cubicBezTo>
                  <a:cubicBezTo>
                    <a:pt x="87506" y="108589"/>
                    <a:pt x="84204" y="110367"/>
                    <a:pt x="80648" y="111764"/>
                  </a:cubicBezTo>
                  <a:cubicBezTo>
                    <a:pt x="77092" y="113161"/>
                    <a:pt x="73536" y="114304"/>
                    <a:pt x="69725" y="115066"/>
                  </a:cubicBezTo>
                  <a:cubicBezTo>
                    <a:pt x="65915" y="115828"/>
                    <a:pt x="62232" y="116209"/>
                    <a:pt x="58422" y="116209"/>
                  </a:cubicBezTo>
                  <a:cubicBezTo>
                    <a:pt x="54612" y="116209"/>
                    <a:pt x="50802" y="115828"/>
                    <a:pt x="47119" y="115066"/>
                  </a:cubicBezTo>
                  <a:cubicBezTo>
                    <a:pt x="43436" y="114304"/>
                    <a:pt x="39752" y="113161"/>
                    <a:pt x="36196" y="111764"/>
                  </a:cubicBezTo>
                  <a:cubicBezTo>
                    <a:pt x="32640" y="110367"/>
                    <a:pt x="29338" y="108462"/>
                    <a:pt x="26163" y="106430"/>
                  </a:cubicBezTo>
                  <a:cubicBezTo>
                    <a:pt x="22988" y="104398"/>
                    <a:pt x="20067" y="101858"/>
                    <a:pt x="17400" y="99191"/>
                  </a:cubicBezTo>
                  <a:cubicBezTo>
                    <a:pt x="14733" y="96524"/>
                    <a:pt x="12319" y="93602"/>
                    <a:pt x="10160" y="90427"/>
                  </a:cubicBezTo>
                  <a:cubicBezTo>
                    <a:pt x="8001" y="87252"/>
                    <a:pt x="6223" y="83950"/>
                    <a:pt x="4826" y="80394"/>
                  </a:cubicBezTo>
                  <a:cubicBezTo>
                    <a:pt x="3429" y="76838"/>
                    <a:pt x="2286" y="73282"/>
                    <a:pt x="1524" y="69472"/>
                  </a:cubicBezTo>
                  <a:cubicBezTo>
                    <a:pt x="762" y="65661"/>
                    <a:pt x="0" y="61978"/>
                    <a:pt x="0" y="58168"/>
                  </a:cubicBezTo>
                  <a:cubicBezTo>
                    <a:pt x="0" y="54358"/>
                    <a:pt x="381" y="50548"/>
                    <a:pt x="1143" y="46865"/>
                  </a:cubicBezTo>
                  <a:cubicBezTo>
                    <a:pt x="1905" y="43182"/>
                    <a:pt x="3048" y="39498"/>
                    <a:pt x="4445" y="35942"/>
                  </a:cubicBezTo>
                  <a:cubicBezTo>
                    <a:pt x="5842" y="32386"/>
                    <a:pt x="7747" y="29084"/>
                    <a:pt x="9779" y="25909"/>
                  </a:cubicBezTo>
                  <a:cubicBezTo>
                    <a:pt x="11811" y="22734"/>
                    <a:pt x="14352" y="19813"/>
                    <a:pt x="17019" y="17146"/>
                  </a:cubicBezTo>
                  <a:cubicBezTo>
                    <a:pt x="19686" y="14479"/>
                    <a:pt x="22607" y="12065"/>
                    <a:pt x="25782" y="9906"/>
                  </a:cubicBezTo>
                  <a:cubicBezTo>
                    <a:pt x="28957" y="7747"/>
                    <a:pt x="32259" y="5969"/>
                    <a:pt x="35815" y="4572"/>
                  </a:cubicBezTo>
                  <a:cubicBezTo>
                    <a:pt x="39371" y="3175"/>
                    <a:pt x="42928" y="2032"/>
                    <a:pt x="46738" y="1270"/>
                  </a:cubicBezTo>
                  <a:cubicBezTo>
                    <a:pt x="50548" y="508"/>
                    <a:pt x="54358" y="0"/>
                    <a:pt x="58168" y="0"/>
                  </a:cubicBezTo>
                  <a:cubicBezTo>
                    <a:pt x="61978" y="0"/>
                    <a:pt x="65788" y="381"/>
                    <a:pt x="69471" y="1143"/>
                  </a:cubicBezTo>
                  <a:cubicBezTo>
                    <a:pt x="73155" y="1905"/>
                    <a:pt x="76838" y="3048"/>
                    <a:pt x="80394" y="4445"/>
                  </a:cubicBezTo>
                  <a:cubicBezTo>
                    <a:pt x="83950" y="5842"/>
                    <a:pt x="87252" y="7747"/>
                    <a:pt x="90427" y="9779"/>
                  </a:cubicBezTo>
                  <a:cubicBezTo>
                    <a:pt x="93602" y="11811"/>
                    <a:pt x="96523" y="14352"/>
                    <a:pt x="99191" y="17019"/>
                  </a:cubicBezTo>
                  <a:cubicBezTo>
                    <a:pt x="101858" y="19686"/>
                    <a:pt x="104271" y="22607"/>
                    <a:pt x="106430" y="25782"/>
                  </a:cubicBezTo>
                  <a:cubicBezTo>
                    <a:pt x="108589" y="28957"/>
                    <a:pt x="110367" y="32259"/>
                    <a:pt x="111764" y="35815"/>
                  </a:cubicBezTo>
                  <a:cubicBezTo>
                    <a:pt x="113161" y="39371"/>
                    <a:pt x="114304" y="42928"/>
                    <a:pt x="115066" y="46738"/>
                  </a:cubicBezTo>
                  <a:cubicBezTo>
                    <a:pt x="115828" y="50548"/>
                    <a:pt x="116209" y="54231"/>
                    <a:pt x="116209" y="58041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567711" y="1890274"/>
            <a:ext cx="6957908" cy="7732452"/>
            <a:chOff x="0" y="0"/>
            <a:chExt cx="6957911" cy="773244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957951" cy="7732390"/>
            </a:xfrm>
            <a:custGeom>
              <a:avLst/>
              <a:gdLst/>
              <a:ahLst/>
              <a:cxnLst/>
              <a:rect l="l" t="t" r="r" b="b"/>
              <a:pathLst>
                <a:path w="6957951" h="7732390">
                  <a:moveTo>
                    <a:pt x="0" y="7732390"/>
                  </a:moveTo>
                  <a:lnTo>
                    <a:pt x="6957951" y="7732390"/>
                  </a:lnTo>
                  <a:lnTo>
                    <a:pt x="695795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877300" y="582301"/>
            <a:ext cx="1278255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spc="330">
                <a:solidFill>
                  <a:srgbClr val="1F497D"/>
                </a:solidFill>
                <a:latin typeface="Calistoga"/>
                <a:ea typeface="Calistoga"/>
                <a:cs typeface="Calistoga"/>
                <a:sym typeface="Calistoga"/>
              </a:rPr>
              <a:t>SMART INDIA HACKATHON 2026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419343" y="1435665"/>
            <a:ext cx="174879" cy="998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5400" b="1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84100" y="2675382"/>
            <a:ext cx="10526439" cy="65036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18"/>
              </a:lnSpc>
            </a:pPr>
            <a:r>
              <a:rPr lang="en-US" sz="3800" b="1" spc="83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Problem Statement ID – </a:t>
            </a:r>
            <a:r>
              <a:rPr lang="en-US" sz="3800" spc="83">
                <a:solidFill>
                  <a:srgbClr val="000000"/>
                </a:solidFill>
                <a:latin typeface="Arial MT Pro"/>
                <a:ea typeface="Arial MT Pro"/>
                <a:cs typeface="Arial MT Pro"/>
                <a:sym typeface="Arial MT Pro"/>
              </a:rPr>
              <a:t>PS 26105</a:t>
            </a:r>
          </a:p>
          <a:p>
            <a:pPr algn="l">
              <a:lnSpc>
                <a:spcPts val="6418"/>
              </a:lnSpc>
            </a:pPr>
            <a:r>
              <a:rPr lang="en-US" sz="3800" b="1" spc="83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Problem Statement Title – </a:t>
            </a:r>
            <a:r>
              <a:rPr lang="en-US" sz="3800" spc="83">
                <a:solidFill>
                  <a:srgbClr val="000000"/>
                </a:solidFill>
                <a:latin typeface="Arial MT Pro"/>
                <a:ea typeface="Arial MT Pro"/>
                <a:cs typeface="Arial MT Pro"/>
                <a:sym typeface="Arial MT Pro"/>
              </a:rPr>
              <a:t>AI-Powered Continuous Cyber Risk Quantification and Investment Optimization Platform</a:t>
            </a:r>
          </a:p>
          <a:p>
            <a:pPr algn="l">
              <a:lnSpc>
                <a:spcPts val="9332"/>
              </a:lnSpc>
            </a:pPr>
            <a:r>
              <a:rPr lang="en-US" sz="3800" b="1" spc="83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Theme – Blockchain &amp; Cybersecurity</a:t>
            </a:r>
          </a:p>
          <a:p>
            <a:pPr algn="l">
              <a:lnSpc>
                <a:spcPts val="1998"/>
              </a:lnSpc>
            </a:pPr>
            <a:r>
              <a:rPr lang="en-US" sz="3800" b="1" spc="83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PS Category – </a:t>
            </a:r>
            <a:r>
              <a:rPr lang="en-US" sz="3800" spc="83">
                <a:solidFill>
                  <a:srgbClr val="000000"/>
                </a:solidFill>
                <a:latin typeface="Arial MT Pro"/>
                <a:ea typeface="Arial MT Pro"/>
                <a:cs typeface="Arial MT Pro"/>
                <a:sym typeface="Arial MT Pro"/>
              </a:rPr>
              <a:t>Software</a:t>
            </a:r>
          </a:p>
          <a:p>
            <a:pPr algn="l">
              <a:lnSpc>
                <a:spcPts val="9500"/>
              </a:lnSpc>
            </a:pPr>
            <a:r>
              <a:rPr lang="en-US" sz="3800" b="1" spc="83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Team ID – </a:t>
            </a:r>
          </a:p>
          <a:p>
            <a:pPr algn="l">
              <a:lnSpc>
                <a:spcPts val="3332"/>
              </a:lnSpc>
            </a:pPr>
            <a:r>
              <a:rPr lang="en-US" sz="3800" b="1" spc="83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Team Name – </a:t>
            </a:r>
            <a:r>
              <a:rPr lang="en-US" sz="3800" spc="83">
                <a:solidFill>
                  <a:srgbClr val="000000"/>
                </a:solidFill>
                <a:latin typeface="Arial MT Pro"/>
                <a:ea typeface="Arial MT Pro"/>
                <a:cs typeface="Arial MT Pro"/>
                <a:sym typeface="Arial MT Pro"/>
              </a:rPr>
              <a:t>Private Keys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325595" y="1435665"/>
            <a:ext cx="4171217" cy="998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5400" b="1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TITLEPAGE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5941945" y="157172"/>
            <a:ext cx="2158032" cy="1096909"/>
            <a:chOff x="0" y="0"/>
            <a:chExt cx="2877376" cy="146254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877439" cy="1462532"/>
            </a:xfrm>
            <a:custGeom>
              <a:avLst/>
              <a:gdLst/>
              <a:ahLst/>
              <a:cxnLst/>
              <a:rect l="l" t="t" r="r" b="b"/>
              <a:pathLst>
                <a:path w="2877439" h="1462532">
                  <a:moveTo>
                    <a:pt x="0" y="0"/>
                  </a:moveTo>
                  <a:lnTo>
                    <a:pt x="2877439" y="0"/>
                  </a:lnTo>
                  <a:lnTo>
                    <a:pt x="2877439" y="1462532"/>
                  </a:lnTo>
                  <a:lnTo>
                    <a:pt x="0" y="14625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59" b="-25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5" b="-8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16543887" y="7228122"/>
            <a:ext cx="1439513" cy="35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5"/>
              </a:lnSpc>
            </a:pPr>
            <a:r>
              <a:rPr lang="en-US" sz="131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Gamified Farmer Rewards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1472558" y="7183022"/>
            <a:ext cx="746417" cy="431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74"/>
              </a:lnSpc>
            </a:pPr>
            <a:r>
              <a:rPr lang="en-US" sz="1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Mandi connect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804736" y="7208129"/>
            <a:ext cx="1396698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US" sz="1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Automatic Subsidy Detection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43646" y="173256"/>
            <a:ext cx="1375195" cy="1115311"/>
            <a:chOff x="0" y="0"/>
            <a:chExt cx="362191" cy="29374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62191" cy="293744"/>
            </a:xfrm>
            <a:custGeom>
              <a:avLst/>
              <a:gdLst/>
              <a:ahLst/>
              <a:cxnLst/>
              <a:rect l="l" t="t" r="r" b="b"/>
              <a:pathLst>
                <a:path w="362191" h="293744">
                  <a:moveTo>
                    <a:pt x="0" y="0"/>
                  </a:moveTo>
                  <a:lnTo>
                    <a:pt x="362191" y="0"/>
                  </a:lnTo>
                  <a:lnTo>
                    <a:pt x="362191" y="293744"/>
                  </a:lnTo>
                  <a:lnTo>
                    <a:pt x="0" y="2937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362191" cy="3413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31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713119"/>
            <a:ext cx="18287914" cy="573881"/>
            <a:chOff x="0" y="0"/>
            <a:chExt cx="18287911" cy="5738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87874" cy="573909"/>
            </a:xfrm>
            <a:custGeom>
              <a:avLst/>
              <a:gdLst/>
              <a:ahLst/>
              <a:cxnLst/>
              <a:rect l="l" t="t" r="r" b="b"/>
              <a:pathLst>
                <a:path w="18287874" h="573909">
                  <a:moveTo>
                    <a:pt x="0" y="0"/>
                  </a:moveTo>
                  <a:lnTo>
                    <a:pt x="0" y="573909"/>
                  </a:lnTo>
                  <a:lnTo>
                    <a:pt x="18287874" y="573909"/>
                  </a:lnTo>
                  <a:lnTo>
                    <a:pt x="18287874" y="0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Freeform 4"/>
          <p:cNvSpPr/>
          <p:nvPr/>
        </p:nvSpPr>
        <p:spPr>
          <a:xfrm>
            <a:off x="0" y="486341"/>
            <a:ext cx="18288741" cy="8771959"/>
          </a:xfrm>
          <a:custGeom>
            <a:avLst/>
            <a:gdLst/>
            <a:ahLst/>
            <a:cxnLst/>
            <a:rect l="l" t="t" r="r" b="b"/>
            <a:pathLst>
              <a:path w="18288741" h="8771959">
                <a:moveTo>
                  <a:pt x="0" y="0"/>
                </a:moveTo>
                <a:lnTo>
                  <a:pt x="18288741" y="0"/>
                </a:lnTo>
                <a:lnTo>
                  <a:pt x="18288741" y="8771959"/>
                </a:lnTo>
                <a:lnTo>
                  <a:pt x="0" y="87719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6" t="-1365" r="-2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7431214" y="9832934"/>
            <a:ext cx="3929896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127">
                <a:solidFill>
                  <a:srgbClr val="FFFFFF"/>
                </a:solidFill>
                <a:latin typeface="Calistoga"/>
                <a:ea typeface="Calistoga"/>
                <a:cs typeface="Calistoga"/>
                <a:sym typeface="Calistoga"/>
              </a:rPr>
              <a:t>SMART INDIA HACKATHON 2026</a:t>
            </a:r>
          </a:p>
          <a:p>
            <a:pPr algn="l">
              <a:lnSpc>
                <a:spcPts val="2520"/>
              </a:lnSpc>
            </a:pPr>
            <a:endParaRPr lang="en-US" sz="1800" spc="127">
              <a:solidFill>
                <a:srgbClr val="FFFFFF"/>
              </a:solidFill>
              <a:latin typeface="Calistoga"/>
              <a:ea typeface="Calistoga"/>
              <a:cs typeface="Calistoga"/>
              <a:sym typeface="Calistoga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7230744" y="9838887"/>
            <a:ext cx="145504" cy="318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Calistoga"/>
                <a:ea typeface="Calistoga"/>
                <a:cs typeface="Calistoga"/>
                <a:sym typeface="Calistoga"/>
              </a:rPr>
              <a:t>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031307" y="5925598"/>
            <a:ext cx="35614" cy="217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49"/>
              </a:lnSpc>
            </a:pPr>
            <a:r>
              <a:rPr lang="en-US" sz="1249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376597" y="3373536"/>
            <a:ext cx="35614" cy="217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49"/>
              </a:lnSpc>
            </a:pPr>
            <a:r>
              <a:rPr lang="en-US" sz="1249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549746" y="7063873"/>
            <a:ext cx="29928" cy="1869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6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830320" y="8186861"/>
            <a:ext cx="36919" cy="261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0000"/>
                </a:solidFill>
                <a:latin typeface="Calistoga"/>
                <a:ea typeface="Calistoga"/>
                <a:cs typeface="Calistoga"/>
                <a:sym typeface="Calistoga"/>
              </a:rPr>
              <a:t>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83132" y="4309767"/>
            <a:ext cx="36919" cy="261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00000"/>
                </a:solidFill>
                <a:latin typeface="Calistoga"/>
                <a:ea typeface="Calistoga"/>
                <a:cs typeface="Calistoga"/>
                <a:sym typeface="Calistoga"/>
              </a:rPr>
              <a:t>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49731" y="-165631"/>
            <a:ext cx="1786679" cy="1814967"/>
            <a:chOff x="44116" y="-5114"/>
            <a:chExt cx="470566" cy="478016"/>
          </a:xfrm>
        </p:grpSpPr>
        <p:sp>
          <p:nvSpPr>
            <p:cNvPr id="13" name="Freeform 13"/>
            <p:cNvSpPr/>
            <p:nvPr/>
          </p:nvSpPr>
          <p:spPr>
            <a:xfrm>
              <a:off x="44116" y="56846"/>
              <a:ext cx="470566" cy="416056"/>
            </a:xfrm>
            <a:custGeom>
              <a:avLst/>
              <a:gdLst/>
              <a:ahLst/>
              <a:cxnLst/>
              <a:rect l="l" t="t" r="r" b="b"/>
              <a:pathLst>
                <a:path w="470566" h="453454">
                  <a:moveTo>
                    <a:pt x="235283" y="0"/>
                  </a:moveTo>
                  <a:cubicBezTo>
                    <a:pt x="105340" y="0"/>
                    <a:pt x="0" y="101509"/>
                    <a:pt x="0" y="226727"/>
                  </a:cubicBezTo>
                  <a:cubicBezTo>
                    <a:pt x="0" y="351945"/>
                    <a:pt x="105340" y="453454"/>
                    <a:pt x="235283" y="453454"/>
                  </a:cubicBezTo>
                  <a:cubicBezTo>
                    <a:pt x="365226" y="453454"/>
                    <a:pt x="470566" y="351945"/>
                    <a:pt x="470566" y="226727"/>
                  </a:cubicBezTo>
                  <a:cubicBezTo>
                    <a:pt x="470566" y="101509"/>
                    <a:pt x="365226" y="0"/>
                    <a:pt x="235283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4116" y="-5114"/>
              <a:ext cx="382335" cy="4160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31"/>
                </a:lnSpc>
              </a:pPr>
              <a:endParaRPr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713119"/>
            <a:ext cx="18287914" cy="573881"/>
            <a:chOff x="0" y="0"/>
            <a:chExt cx="18287911" cy="5738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87874" cy="573909"/>
            </a:xfrm>
            <a:custGeom>
              <a:avLst/>
              <a:gdLst/>
              <a:ahLst/>
              <a:cxnLst/>
              <a:rect l="l" t="t" r="r" b="b"/>
              <a:pathLst>
                <a:path w="18287874" h="573909">
                  <a:moveTo>
                    <a:pt x="0" y="0"/>
                  </a:moveTo>
                  <a:lnTo>
                    <a:pt x="0" y="573909"/>
                  </a:lnTo>
                  <a:lnTo>
                    <a:pt x="18287874" y="573909"/>
                  </a:lnTo>
                  <a:lnTo>
                    <a:pt x="18287874" y="0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9713119"/>
            <a:ext cx="18288000" cy="573881"/>
            <a:chOff x="0" y="0"/>
            <a:chExt cx="18288000" cy="57387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8288002" cy="573909"/>
            </a:xfrm>
            <a:custGeom>
              <a:avLst/>
              <a:gdLst/>
              <a:ahLst/>
              <a:cxnLst/>
              <a:rect l="l" t="t" r="r" b="b"/>
              <a:pathLst>
                <a:path w="18288002" h="573909">
                  <a:moveTo>
                    <a:pt x="0" y="573909"/>
                  </a:moveTo>
                  <a:lnTo>
                    <a:pt x="18288002" y="573909"/>
                  </a:lnTo>
                  <a:lnTo>
                    <a:pt x="1828800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Freeform 6"/>
          <p:cNvSpPr/>
          <p:nvPr/>
        </p:nvSpPr>
        <p:spPr>
          <a:xfrm>
            <a:off x="0" y="151620"/>
            <a:ext cx="18374542" cy="9561498"/>
          </a:xfrm>
          <a:custGeom>
            <a:avLst/>
            <a:gdLst/>
            <a:ahLst/>
            <a:cxnLst/>
            <a:rect l="l" t="t" r="r" b="b"/>
            <a:pathLst>
              <a:path w="18374542" h="9561498">
                <a:moveTo>
                  <a:pt x="0" y="0"/>
                </a:moveTo>
                <a:lnTo>
                  <a:pt x="18374542" y="0"/>
                </a:lnTo>
                <a:lnTo>
                  <a:pt x="18374542" y="9561499"/>
                </a:lnTo>
                <a:lnTo>
                  <a:pt x="0" y="95614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24" r="-223" b="-145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TextBox 7"/>
          <p:cNvSpPr txBox="1"/>
          <p:nvPr/>
        </p:nvSpPr>
        <p:spPr>
          <a:xfrm>
            <a:off x="6227455" y="1038063"/>
            <a:ext cx="60855" cy="360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9"/>
              </a:lnSpc>
            </a:pPr>
            <a:r>
              <a:rPr lang="en-US" sz="2135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31214" y="9832934"/>
            <a:ext cx="3929896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127">
                <a:solidFill>
                  <a:srgbClr val="FFFFFF"/>
                </a:solidFill>
                <a:latin typeface="Calistoga"/>
                <a:ea typeface="Calistoga"/>
                <a:cs typeface="Calistoga"/>
                <a:sym typeface="Calistoga"/>
              </a:rPr>
              <a:t>SMART INDIA HACKATHON 2026</a:t>
            </a:r>
          </a:p>
          <a:p>
            <a:pPr algn="l">
              <a:lnSpc>
                <a:spcPts val="2520"/>
              </a:lnSpc>
            </a:pPr>
            <a:endParaRPr lang="en-US" sz="1800" spc="127">
              <a:solidFill>
                <a:srgbClr val="FFFFFF"/>
              </a:solidFill>
              <a:latin typeface="Calistoga"/>
              <a:ea typeface="Calistoga"/>
              <a:cs typeface="Calistoga"/>
              <a:sym typeface="Calistoga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7221810" y="9838887"/>
            <a:ext cx="154591" cy="318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Calistoga"/>
                <a:ea typeface="Calistoga"/>
                <a:cs typeface="Calistoga"/>
                <a:sym typeface="Calistoga"/>
              </a:rPr>
              <a:t>4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29942" y="194913"/>
            <a:ext cx="1239028" cy="881250"/>
            <a:chOff x="0" y="0"/>
            <a:chExt cx="326328" cy="23209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6328" cy="232099"/>
            </a:xfrm>
            <a:custGeom>
              <a:avLst/>
              <a:gdLst/>
              <a:ahLst/>
              <a:cxnLst/>
              <a:rect l="l" t="t" r="r" b="b"/>
              <a:pathLst>
                <a:path w="326328" h="232099">
                  <a:moveTo>
                    <a:pt x="0" y="0"/>
                  </a:moveTo>
                  <a:lnTo>
                    <a:pt x="326328" y="0"/>
                  </a:lnTo>
                  <a:lnTo>
                    <a:pt x="326328" y="232099"/>
                  </a:lnTo>
                  <a:lnTo>
                    <a:pt x="0" y="232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26328" cy="2701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03281" y="1273569"/>
            <a:ext cx="361845" cy="355387"/>
          </a:xfrm>
          <a:custGeom>
            <a:avLst/>
            <a:gdLst/>
            <a:ahLst/>
            <a:cxnLst/>
            <a:rect l="l" t="t" r="r" b="b"/>
            <a:pathLst>
              <a:path w="361845" h="355387">
                <a:moveTo>
                  <a:pt x="0" y="0"/>
                </a:moveTo>
                <a:lnTo>
                  <a:pt x="361845" y="0"/>
                </a:lnTo>
                <a:lnTo>
                  <a:pt x="361845" y="355387"/>
                </a:lnTo>
                <a:lnTo>
                  <a:pt x="0" y="3553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18288000" cy="9658946"/>
          </a:xfrm>
          <a:custGeom>
            <a:avLst/>
            <a:gdLst/>
            <a:ahLst/>
            <a:cxnLst/>
            <a:rect l="l" t="t" r="r" b="b"/>
            <a:pathLst>
              <a:path w="18288000" h="9658946">
                <a:moveTo>
                  <a:pt x="0" y="0"/>
                </a:moveTo>
                <a:lnTo>
                  <a:pt x="18288000" y="0"/>
                </a:lnTo>
                <a:lnTo>
                  <a:pt x="18288000" y="9658946"/>
                </a:lnTo>
                <a:lnTo>
                  <a:pt x="0" y="96589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69" b="-667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4882467" y="3308052"/>
            <a:ext cx="176717" cy="215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3"/>
              </a:lnSpc>
            </a:pPr>
            <a:r>
              <a:rPr lang="en-US" sz="1216" b="1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465697" y="6235713"/>
            <a:ext cx="46758" cy="333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>
                <a:solidFill>
                  <a:srgbClr val="1800AD"/>
                </a:solidFill>
                <a:latin typeface="Calistoga"/>
                <a:ea typeface="Calistoga"/>
                <a:cs typeface="Calistoga"/>
                <a:sym typeface="Calistoga"/>
              </a:rPr>
              <a:t>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330901" y="3080166"/>
            <a:ext cx="46758" cy="333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>
                <a:solidFill>
                  <a:srgbClr val="1800AD"/>
                </a:solidFill>
                <a:latin typeface="Calistoga"/>
                <a:ea typeface="Calistoga"/>
                <a:cs typeface="Calistoga"/>
                <a:sym typeface="Calistoga"/>
              </a:rPr>
              <a:t>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37563" y="85906"/>
            <a:ext cx="1396852" cy="1365356"/>
            <a:chOff x="0" y="0"/>
            <a:chExt cx="367895" cy="359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67895" cy="359600"/>
            </a:xfrm>
            <a:custGeom>
              <a:avLst/>
              <a:gdLst/>
              <a:ahLst/>
              <a:cxnLst/>
              <a:rect l="l" t="t" r="r" b="b"/>
              <a:pathLst>
                <a:path w="367895" h="359600">
                  <a:moveTo>
                    <a:pt x="0" y="0"/>
                  </a:moveTo>
                  <a:lnTo>
                    <a:pt x="367895" y="0"/>
                  </a:lnTo>
                  <a:lnTo>
                    <a:pt x="367895" y="359600"/>
                  </a:lnTo>
                  <a:lnTo>
                    <a:pt x="0" y="3596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67895" cy="397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9713119"/>
            <a:ext cx="18288000" cy="573881"/>
            <a:chOff x="0" y="0"/>
            <a:chExt cx="18288000" cy="57387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288002" cy="573909"/>
            </a:xfrm>
            <a:custGeom>
              <a:avLst/>
              <a:gdLst/>
              <a:ahLst/>
              <a:cxnLst/>
              <a:rect l="l" t="t" r="r" b="b"/>
              <a:pathLst>
                <a:path w="18288002" h="573909">
                  <a:moveTo>
                    <a:pt x="0" y="573909"/>
                  </a:moveTo>
                  <a:lnTo>
                    <a:pt x="18288002" y="573909"/>
                  </a:lnTo>
                  <a:lnTo>
                    <a:pt x="1828800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713119"/>
            <a:ext cx="18287914" cy="573881"/>
            <a:chOff x="0" y="0"/>
            <a:chExt cx="18287911" cy="57387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287874" cy="573909"/>
            </a:xfrm>
            <a:custGeom>
              <a:avLst/>
              <a:gdLst/>
              <a:ahLst/>
              <a:cxnLst/>
              <a:rect l="l" t="t" r="r" b="b"/>
              <a:pathLst>
                <a:path w="18287874" h="573909">
                  <a:moveTo>
                    <a:pt x="0" y="0"/>
                  </a:moveTo>
                  <a:lnTo>
                    <a:pt x="0" y="573909"/>
                  </a:lnTo>
                  <a:lnTo>
                    <a:pt x="18287874" y="573909"/>
                  </a:lnTo>
                  <a:lnTo>
                    <a:pt x="18287874" y="0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9713119"/>
            <a:ext cx="18288000" cy="573881"/>
            <a:chOff x="0" y="0"/>
            <a:chExt cx="18288000" cy="57387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8288002" cy="573909"/>
            </a:xfrm>
            <a:custGeom>
              <a:avLst/>
              <a:gdLst/>
              <a:ahLst/>
              <a:cxnLst/>
              <a:rect l="l" t="t" r="r" b="b"/>
              <a:pathLst>
                <a:path w="18288002" h="573909">
                  <a:moveTo>
                    <a:pt x="0" y="573909"/>
                  </a:moveTo>
                  <a:lnTo>
                    <a:pt x="18288002" y="573909"/>
                  </a:lnTo>
                  <a:lnTo>
                    <a:pt x="1828800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431214" y="9832934"/>
            <a:ext cx="3929896" cy="621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127">
                <a:solidFill>
                  <a:srgbClr val="FFFFFF"/>
                </a:solidFill>
                <a:latin typeface="Calistoga"/>
                <a:ea typeface="Calistoga"/>
                <a:cs typeface="Calistoga"/>
                <a:sym typeface="Calistoga"/>
              </a:rPr>
              <a:t>SMART INDIA HACKATHON 2026</a:t>
            </a:r>
          </a:p>
          <a:p>
            <a:pPr algn="l">
              <a:lnSpc>
                <a:spcPts val="2520"/>
              </a:lnSpc>
            </a:pPr>
            <a:endParaRPr lang="en-US" sz="1800" spc="127">
              <a:solidFill>
                <a:srgbClr val="FFFFFF"/>
              </a:solidFill>
              <a:latin typeface="Calistoga"/>
              <a:ea typeface="Calistoga"/>
              <a:cs typeface="Calistoga"/>
              <a:sym typeface="Calistoga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7221810" y="9838887"/>
            <a:ext cx="137874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Calistoga"/>
                <a:ea typeface="Calistoga"/>
                <a:cs typeface="Calistoga"/>
                <a:sym typeface="Calistog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713119"/>
            <a:ext cx="18287914" cy="573881"/>
            <a:chOff x="0" y="0"/>
            <a:chExt cx="18287911" cy="5738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87874" cy="573909"/>
            </a:xfrm>
            <a:custGeom>
              <a:avLst/>
              <a:gdLst/>
              <a:ahLst/>
              <a:cxnLst/>
              <a:rect l="l" t="t" r="r" b="b"/>
              <a:pathLst>
                <a:path w="18287874" h="573909">
                  <a:moveTo>
                    <a:pt x="0" y="0"/>
                  </a:moveTo>
                  <a:lnTo>
                    <a:pt x="0" y="573909"/>
                  </a:lnTo>
                  <a:lnTo>
                    <a:pt x="18287874" y="573909"/>
                  </a:lnTo>
                  <a:lnTo>
                    <a:pt x="18287874" y="0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6157210" y="0"/>
            <a:ext cx="2001231" cy="1017203"/>
            <a:chOff x="0" y="0"/>
            <a:chExt cx="2668308" cy="135627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668270" cy="1356233"/>
            </a:xfrm>
            <a:custGeom>
              <a:avLst/>
              <a:gdLst/>
              <a:ahLst/>
              <a:cxnLst/>
              <a:rect l="l" t="t" r="r" b="b"/>
              <a:pathLst>
                <a:path w="2668270" h="1356233">
                  <a:moveTo>
                    <a:pt x="0" y="0"/>
                  </a:moveTo>
                  <a:lnTo>
                    <a:pt x="2668270" y="0"/>
                  </a:lnTo>
                  <a:lnTo>
                    <a:pt x="2668270" y="1356233"/>
                  </a:lnTo>
                  <a:lnTo>
                    <a:pt x="0" y="13562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58" b="-25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713119"/>
            <a:ext cx="18288000" cy="573881"/>
            <a:chOff x="0" y="0"/>
            <a:chExt cx="18288000" cy="5738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8288002" cy="573909"/>
            </a:xfrm>
            <a:custGeom>
              <a:avLst/>
              <a:gdLst/>
              <a:ahLst/>
              <a:cxnLst/>
              <a:rect l="l" t="t" r="r" b="b"/>
              <a:pathLst>
                <a:path w="18288002" h="573909">
                  <a:moveTo>
                    <a:pt x="0" y="573909"/>
                  </a:moveTo>
                  <a:lnTo>
                    <a:pt x="18288002" y="573909"/>
                  </a:lnTo>
                  <a:lnTo>
                    <a:pt x="1828800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431214" y="9832934"/>
            <a:ext cx="3929896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127">
                <a:solidFill>
                  <a:srgbClr val="FFFFFF"/>
                </a:solidFill>
                <a:latin typeface="Calistoga"/>
                <a:ea typeface="Calistoga"/>
                <a:cs typeface="Calistoga"/>
                <a:sym typeface="Calistoga"/>
              </a:rPr>
              <a:t>SMART INDIA HACKATHON 2026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228210" y="9838887"/>
            <a:ext cx="148066" cy="318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FFFFFF"/>
                </a:solidFill>
                <a:latin typeface="Calistoga"/>
                <a:ea typeface="Calistoga"/>
                <a:cs typeface="Calistoga"/>
                <a:sym typeface="Calistoga"/>
              </a:rPr>
              <a:t>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988566" y="128759"/>
            <a:ext cx="8476964" cy="6871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b="1">
                <a:solidFill>
                  <a:srgbClr val="000000"/>
                </a:solidFill>
                <a:latin typeface="Georgia Pro Bold"/>
                <a:ea typeface="Georgia Pro Bold"/>
                <a:cs typeface="Georgia Pro Bold"/>
                <a:sym typeface="Georgia Pro Bold"/>
              </a:rPr>
              <a:t>RESEARCH AND REFERENCES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8681" y="4474193"/>
            <a:ext cx="8170069" cy="986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1">
                <a:solidFill>
                  <a:srgbClr val="1800AD"/>
                </a:solidFill>
                <a:latin typeface="Georgia Pro Bold"/>
                <a:ea typeface="Georgia Pro Bold"/>
                <a:cs typeface="Georgia Pro Bold"/>
                <a:sym typeface="Georgia Pro Bold"/>
              </a:rPr>
              <a:t>Regulatory &amp; Compliance References (India)</a:t>
            </a:r>
          </a:p>
          <a:p>
            <a:pPr algn="l">
              <a:lnSpc>
                <a:spcPts val="3919"/>
              </a:lnSpc>
            </a:pPr>
            <a:endParaRPr lang="en-US" sz="2799" b="1">
              <a:solidFill>
                <a:srgbClr val="1800AD"/>
              </a:solidFill>
              <a:latin typeface="Georgia Pro Bold"/>
              <a:ea typeface="Georgia Pro Bold"/>
              <a:cs typeface="Georgia Pro Bold"/>
              <a:sym typeface="Georgia Pr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12380" y="1309154"/>
            <a:ext cx="78943" cy="4085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1800AD"/>
                </a:solidFill>
                <a:latin typeface="Georgia Pro Bold"/>
                <a:ea typeface="Georgia Pro Bold"/>
                <a:cs typeface="Georgia Pro Bold"/>
                <a:sym typeface="Georgia Pro Bold"/>
              </a:rPr>
              <a:t>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8681" y="1640624"/>
            <a:ext cx="17457941" cy="3110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3525"/>
              </a:lnSpc>
              <a:buFont typeface="Arial"/>
              <a:buChar char="•"/>
            </a:pPr>
            <a:r>
              <a:rPr lang="en-US" sz="2100" b="1" spc="48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FAIR Institute – Factor Analysis of Information Risk (Open FAIR): </a:t>
            </a:r>
            <a:r>
              <a:rPr lang="en-US" sz="2100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Core quantitative risk taxonomy underlying the platform's Monte Carlo risk-quantification engine. </a:t>
            </a:r>
            <a:r>
              <a:rPr lang="en-US" sz="2100" u="sng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  <a:hlinkClick r:id="rId3" tooltip="https://www.fairinstitute.org/what-is-fair"/>
              </a:rPr>
              <a:t>https://www.fairinstitute.org/what-is-fair</a:t>
            </a:r>
          </a:p>
          <a:p>
            <a:pPr marL="453390" lvl="1" indent="-226695" algn="l">
              <a:lnSpc>
                <a:spcPts val="3525"/>
              </a:lnSpc>
              <a:buFont typeface="Arial"/>
              <a:buChar char="•"/>
            </a:pPr>
            <a:r>
              <a:rPr lang="en-US" sz="2100" b="1" spc="48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The Open Group – Open FAIR Body of Knowledge (O-RA / O-RT Standards):</a:t>
            </a:r>
            <a:r>
              <a:rPr lang="en-US" sz="2100" u="sng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 </a:t>
            </a:r>
            <a:r>
              <a:rPr lang="en-US" sz="2100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Formal risk analysis and risk taxonomy standards referenced for the likelihood, frequency, and loss-magnitude modeling.</a:t>
            </a:r>
            <a:r>
              <a:rPr lang="en-US" sz="2100" u="sng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 </a:t>
            </a:r>
            <a:r>
              <a:rPr lang="en-US" sz="2100" u="sng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  <a:hlinkClick r:id="rId4" tooltip="https://www.opengroup.org/open-fair"/>
              </a:rPr>
              <a:t>https://www.opengroup.org/open-fai</a:t>
            </a:r>
          </a:p>
          <a:p>
            <a:pPr marL="453390" lvl="1" indent="-226695" algn="l">
              <a:lnSpc>
                <a:spcPts val="3525"/>
              </a:lnSpc>
              <a:buFont typeface="Arial"/>
              <a:buChar char="•"/>
            </a:pPr>
            <a:r>
              <a:rPr lang="en-US" sz="2100" b="1" spc="48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FIRST.org – Exploit Prediction Scoring System (EPSS):</a:t>
            </a:r>
            <a:r>
              <a:rPr lang="en-US" sz="2100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Daily-updated exploitation-probability scores used as the likelihood input for the vulnerability layer. </a:t>
            </a:r>
            <a:r>
              <a:rPr lang="en-US" sz="2100" u="sng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  <a:hlinkClick r:id="rId5" tooltip="https://www.first.org/epss/"/>
              </a:rPr>
              <a:t>https://www.first.org/epss/</a:t>
            </a:r>
          </a:p>
          <a:p>
            <a:pPr algn="l">
              <a:lnSpc>
                <a:spcPts val="3525"/>
              </a:lnSpc>
            </a:pPr>
            <a:endParaRPr lang="en-US" sz="2100" u="sng" spc="48">
              <a:solidFill>
                <a:srgbClr val="000000"/>
              </a:solidFill>
              <a:latin typeface="Caladea"/>
              <a:ea typeface="Caladea"/>
              <a:cs typeface="Caladea"/>
              <a:sym typeface="Caladea"/>
              <a:hlinkClick r:id="rId5" tooltip="https://www.first.org/epss/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18681" y="1309154"/>
            <a:ext cx="6126123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1800AD"/>
                </a:solidFill>
                <a:latin typeface="Georgia Pro Bold"/>
                <a:ea typeface="Georgia Pro Bold"/>
                <a:cs typeface="Georgia Pro Bold"/>
                <a:sym typeface="Georgia Pro Bold"/>
              </a:rPr>
              <a:t>Methodology &amp; Standards Foundations</a:t>
            </a:r>
          </a:p>
          <a:p>
            <a:pPr algn="l">
              <a:lnSpc>
                <a:spcPts val="3359"/>
              </a:lnSpc>
            </a:pPr>
            <a:endParaRPr lang="en-US" sz="2400" b="1">
              <a:solidFill>
                <a:srgbClr val="1800AD"/>
              </a:solidFill>
              <a:latin typeface="Georgia Pro Bold"/>
              <a:ea typeface="Georgia Pro Bold"/>
              <a:cs typeface="Georgia Pro Bold"/>
              <a:sym typeface="Georgia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14987" y="4989500"/>
            <a:ext cx="17457941" cy="3558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3525"/>
              </a:lnSpc>
              <a:buFont typeface="Arial"/>
              <a:buChar char="•"/>
            </a:pPr>
            <a:r>
              <a:rPr lang="en-US" sz="2100" b="1" spc="48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Reserve Bank of India – Cyber Security Framework in Banks (2016): </a:t>
            </a:r>
            <a:r>
              <a:rPr lang="en-US" sz="2100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Regulatory basis for board-level, financially-quantified cyber risk reporting in Indian BFSI institutions. </a:t>
            </a:r>
            <a:r>
              <a:rPr lang="en-US" sz="2100" u="sng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  <a:hlinkClick r:id="rId6" tooltip="https://www.rbi.org.in/commonman/english/scripts/Notification.aspx?Id=1721"/>
              </a:rPr>
              <a:t>https://www.rbi.org.in/commonman/english/scripts/Notification.aspx?Id=1721</a:t>
            </a:r>
          </a:p>
          <a:p>
            <a:pPr marL="453390" lvl="1" indent="-226695" algn="l">
              <a:lnSpc>
                <a:spcPts val="3525"/>
              </a:lnSpc>
              <a:buFont typeface="Arial"/>
              <a:buChar char="•"/>
            </a:pPr>
            <a:r>
              <a:rPr lang="en-US" sz="2100" b="1" spc="48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SEBI – Cybersecurity and Cyber Resilience Framework (CSCRF), Aug 2024: </a:t>
            </a:r>
            <a:r>
              <a:rPr lang="en-US" sz="2100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Governance-Identify-Protect-Detect-Respond-Recover structure informing the platform's compliance-mapping roadmap. </a:t>
            </a:r>
            <a:r>
              <a:rPr lang="en-US" sz="2100" u="sng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  <a:hlinkClick r:id="rId7" tooltip="https://nsdl.co.in/downloadables/pdf/2024-0118-Policy-SEBI_Circular_on_Cybersecurity_and_Cyber_Resilience_Framework_(CSCRF)_for_SEBI_Regulated_Entities_(REs).pdf"/>
              </a:rPr>
              <a:t>https://nsdl.co.in/downloadables/pdf/2024-0118-Policy-SEBI_Circular_on_Cybersecurity_and_Cyber_Resilience_Framework_(CSCRF)_for_SEBI_Regulated_Entities_(REs).pdf</a:t>
            </a:r>
          </a:p>
          <a:p>
            <a:pPr algn="l">
              <a:lnSpc>
                <a:spcPts val="3525"/>
              </a:lnSpc>
            </a:pPr>
            <a:endParaRPr lang="en-US" sz="2100" u="sng" spc="48">
              <a:solidFill>
                <a:srgbClr val="000000"/>
              </a:solidFill>
              <a:latin typeface="Caladea"/>
              <a:ea typeface="Caladea"/>
              <a:cs typeface="Caladea"/>
              <a:sym typeface="Caladea"/>
              <a:hlinkClick r:id="rId7" tooltip="https://nsdl.co.in/downloadables/pdf/2024-0118-Policy-SEBI_Circular_on_Cybersecurity_and_Cyber_Resilience_Framework_(CSCRF)_for_SEBI_Regulated_Entities_(REs).pdf"/>
            </a:endParaRPr>
          </a:p>
          <a:p>
            <a:pPr algn="l">
              <a:lnSpc>
                <a:spcPts val="3525"/>
              </a:lnSpc>
            </a:pPr>
            <a:endParaRPr lang="en-US" sz="2100" u="sng" spc="48">
              <a:solidFill>
                <a:srgbClr val="000000"/>
              </a:solidFill>
              <a:latin typeface="Caladea"/>
              <a:ea typeface="Caladea"/>
              <a:cs typeface="Caladea"/>
              <a:sym typeface="Caladea"/>
              <a:hlinkClick r:id="rId7" tooltip="https://nsdl.co.in/downloadables/pdf/2024-0118-Policy-SEBI_Circular_on_Cybersecurity_and_Cyber_Resilience_Framework_(CSCRF)_for_SEBI_Regulated_Entities_(REs).pdf"/>
            </a:endParaRPr>
          </a:p>
          <a:p>
            <a:pPr algn="l">
              <a:lnSpc>
                <a:spcPts val="3525"/>
              </a:lnSpc>
            </a:pPr>
            <a:endParaRPr lang="en-US" sz="2100" u="sng" spc="48">
              <a:solidFill>
                <a:srgbClr val="000000"/>
              </a:solidFill>
              <a:latin typeface="Caladea"/>
              <a:ea typeface="Caladea"/>
              <a:cs typeface="Caladea"/>
              <a:sym typeface="Caladea"/>
              <a:hlinkClick r:id="rId7" tooltip="https://nsdl.co.in/downloadables/pdf/2024-0118-Policy-SEBI_Circular_on_Cybersecurity_and_Cyber_Resilience_Framework_(CSCRF)_for_SEBI_Regulated_Entities_(REs).pdf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8681" y="7333720"/>
            <a:ext cx="6476643" cy="986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1">
                <a:solidFill>
                  <a:srgbClr val="1800AD"/>
                </a:solidFill>
                <a:latin typeface="Georgia Pro Bold"/>
                <a:ea typeface="Georgia Pro Bold"/>
                <a:cs typeface="Georgia Pro Bold"/>
                <a:sym typeface="Georgia Pro Bold"/>
              </a:rPr>
              <a:t>Engineering &amp; Quantitative Tooling</a:t>
            </a:r>
          </a:p>
          <a:p>
            <a:pPr algn="l">
              <a:lnSpc>
                <a:spcPts val="3919"/>
              </a:lnSpc>
            </a:pPr>
            <a:endParaRPr lang="en-US" sz="2799" b="1">
              <a:solidFill>
                <a:srgbClr val="1800AD"/>
              </a:solidFill>
              <a:latin typeface="Georgia Pro Bold"/>
              <a:ea typeface="Georgia Pro Bold"/>
              <a:cs typeface="Georgia Pro Bold"/>
              <a:sym typeface="Georgia Pr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14987" y="7801604"/>
            <a:ext cx="17457941" cy="2215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3525"/>
              </a:lnSpc>
              <a:buFont typeface="Arial"/>
              <a:buChar char="•"/>
            </a:pPr>
            <a:r>
              <a:rPr lang="en-US" sz="2100" b="1" spc="48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NIST Cybersecurity Framework (CSF) 2.0: </a:t>
            </a:r>
            <a:r>
              <a:rPr lang="en-US" sz="2100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Six-function (Govern-Identify-Protect-Detect-Respond-Recover) reference model used for control categorization. </a:t>
            </a:r>
            <a:r>
              <a:rPr lang="en-US" sz="2100" u="sng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  <a:hlinkClick r:id="rId8" tooltip="https://www.nist.gov/cyberframework"/>
              </a:rPr>
              <a:t>https://www.nist.gov/cyberframework</a:t>
            </a:r>
          </a:p>
          <a:p>
            <a:pPr marL="453390" lvl="1" indent="-226695" algn="l">
              <a:lnSpc>
                <a:spcPts val="3525"/>
              </a:lnSpc>
              <a:buFont typeface="Arial"/>
              <a:buChar char="•"/>
            </a:pPr>
            <a:r>
              <a:rPr lang="en-US" sz="2100" b="1" spc="48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PuLP / COIN-OR CBC Solver Documentation: </a:t>
            </a:r>
            <a:r>
              <a:rPr lang="en-US" sz="2100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Open-source Integer Linear Programming library powering the Knapsack ILP investment optimizer. </a:t>
            </a:r>
            <a:r>
              <a:rPr lang="en-US" sz="2100" u="sng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  <a:hlinkClick r:id="rId9" tooltip="https://coin-or.github.io/pulp/"/>
              </a:rPr>
              <a:t>https://coin-or.github.io/pulp/</a:t>
            </a:r>
          </a:p>
          <a:p>
            <a:pPr algn="l">
              <a:lnSpc>
                <a:spcPts val="3525"/>
              </a:lnSpc>
            </a:pPr>
            <a:r>
              <a:rPr lang="en-US" sz="2100" spc="48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\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377</Words>
  <Application>Microsoft Office PowerPoint</Application>
  <PresentationFormat>Custom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8" baseType="lpstr">
      <vt:lpstr>Arial MT Pro Bold</vt:lpstr>
      <vt:lpstr>Calibri</vt:lpstr>
      <vt:lpstr>Open Sauce Bold</vt:lpstr>
      <vt:lpstr>Poppins</vt:lpstr>
      <vt:lpstr>Calistoga</vt:lpstr>
      <vt:lpstr>Times New Roman MT Bold</vt:lpstr>
      <vt:lpstr>Caladea</vt:lpstr>
      <vt:lpstr>Arial MT Pro</vt:lpstr>
      <vt:lpstr>Georgia Pro Bold</vt:lpstr>
      <vt:lpstr>Arial</vt:lpstr>
      <vt:lpstr>Caladea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SIH-private keys Final</dc:title>
  <cp:lastModifiedBy>Ajay Arora</cp:lastModifiedBy>
  <cp:revision>2</cp:revision>
  <dcterms:created xsi:type="dcterms:W3CDTF">2006-08-16T00:00:00Z</dcterms:created>
  <dcterms:modified xsi:type="dcterms:W3CDTF">2026-09-10T16:49:38Z</dcterms:modified>
  <dc:identifier>DAHUt5e1XoE</dc:identifier>
</cp:coreProperties>
</file>