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listoga" charset="1" panose="00000000000000000000"/>
      <p:regular r:id="rId12"/>
    </p:embeddedFont>
    <p:embeddedFont>
      <p:font typeface="Times New Roman MT Bold" charset="1" panose="02030802070405020303"/>
      <p:regular r:id="rId13"/>
    </p:embeddedFont>
    <p:embeddedFont>
      <p:font typeface="Arial MT Pro Bold" charset="1" panose="020B0802020202020204"/>
      <p:regular r:id="rId14"/>
    </p:embeddedFont>
    <p:embeddedFont>
      <p:font typeface="Arial MT Pro" charset="1" panose="020B0502020202020204"/>
      <p:regular r:id="rId15"/>
    </p:embeddedFont>
    <p:embeddedFont>
      <p:font typeface="Canva Sans Bold" charset="1" panose="020B0803030501040103"/>
      <p:regular r:id="rId16"/>
    </p:embeddedFont>
    <p:embeddedFont>
      <p:font typeface="Georgia Pro Bold" charset="1" panose="02040802050405020203"/>
      <p:regular r:id="rId17"/>
    </p:embeddedFont>
    <p:embeddedFont>
      <p:font typeface="Caladea Bold" charset="1" panose="02040803050406030204"/>
      <p:regular r:id="rId18"/>
    </p:embeddedFont>
    <p:embeddedFont>
      <p:font typeface="Caladea" charset="1" panose="02040503050406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svg" Type="http://schemas.openxmlformats.org/officeDocument/2006/relationships/image"/><Relationship Id="rId12" Target="../media/image11.jpeg" Type="http://schemas.openxmlformats.org/officeDocument/2006/relationships/image"/><Relationship Id="rId13" Target="../media/image12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svg" Type="http://schemas.openxmlformats.org/officeDocument/2006/relationships/image"/><Relationship Id="rId8" Target="../media/image7.sv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https://github.com/kshitij3103/SIH2026" TargetMode="External" Type="http://schemas.openxmlformats.org/officeDocument/2006/relationships/hyperlink"/><Relationship Id="rId4" Target="https://youtu.be/7WWFyT6DtGg" TargetMode="External" Type="http://schemas.openxmlformats.org/officeDocument/2006/relationships/hyperlink"/><Relationship Id="rId5" Target="https://sih-2026-prledoynd-kumar-piyushs-projects-ef79c1c3.vercel.app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https://www.rbi.org.in/commonman/english/scripts/Notification.aspx?Id=1721" TargetMode="External" Type="http://schemas.openxmlformats.org/officeDocument/2006/relationships/hyperlink"/><Relationship Id="rId4" Target="https://nsdl.co.in/downloadables/pdf/2024-0118-Policy-SEBI_Circular_on_Cybersecurity_and_Cyber_Resilience_Framework_(CSCRF)_for_SEBI_Regulated_Entities_(REs).pdf" TargetMode="External" Type="http://schemas.openxmlformats.org/officeDocument/2006/relationships/hyperlink"/><Relationship Id="rId5" Target="https://www.fairinstitute.org/what-is-fair" TargetMode="External" Type="http://schemas.openxmlformats.org/officeDocument/2006/relationships/hyperlink"/><Relationship Id="rId6" Target="https://www.opengroup.org/open-fair" TargetMode="External" Type="http://schemas.openxmlformats.org/officeDocument/2006/relationships/hyperlink"/><Relationship Id="rId7" Target="https://www.first.org/epss/" TargetMode="External" Type="http://schemas.openxmlformats.org/officeDocument/2006/relationships/hyperlink"/><Relationship Id="rId8" Target="https://www.nist.gov/cyberframework" TargetMode="External" Type="http://schemas.openxmlformats.org/officeDocument/2006/relationships/hyperlink"/><Relationship Id="rId9" Target="https://coin-or.github.io/pulp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67759" y="1890274"/>
            <a:ext cx="6953021" cy="7735310"/>
          </a:xfrm>
          <a:custGeom>
            <a:avLst/>
            <a:gdLst/>
            <a:ahLst/>
            <a:cxnLst/>
            <a:rect r="r" b="b" t="t" l="l"/>
            <a:pathLst>
              <a:path h="7735310" w="6953021">
                <a:moveTo>
                  <a:pt x="0" y="0"/>
                </a:moveTo>
                <a:lnTo>
                  <a:pt x="6953021" y="0"/>
                </a:lnTo>
                <a:lnTo>
                  <a:pt x="6953021" y="7735310"/>
                </a:lnTo>
                <a:lnTo>
                  <a:pt x="0" y="773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19343" y="3247396"/>
            <a:ext cx="4805258" cy="5138261"/>
            <a:chOff x="0" y="0"/>
            <a:chExt cx="6407010" cy="68510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1015"/>
            </a:xfrm>
            <a:custGeom>
              <a:avLst/>
              <a:gdLst/>
              <a:ahLst/>
              <a:cxnLst/>
              <a:rect r="r" b="b" t="t" l="l"/>
              <a:pathLst>
                <a:path h="6851015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1015"/>
                  </a:lnTo>
                  <a:lnTo>
                    <a:pt x="0" y="6851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504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14972" y="3130982"/>
            <a:ext cx="116415" cy="116415"/>
          </a:xfrm>
          <a:custGeom>
            <a:avLst/>
            <a:gdLst/>
            <a:ahLst/>
            <a:cxnLst/>
            <a:rect r="r" b="b" t="t" l="l"/>
            <a:pathLst>
              <a:path h="116415" w="116415">
                <a:moveTo>
                  <a:pt x="0" y="0"/>
                </a:moveTo>
                <a:lnTo>
                  <a:pt x="116414" y="0"/>
                </a:lnTo>
                <a:lnTo>
                  <a:pt x="116414" y="116414"/>
                </a:lnTo>
                <a:lnTo>
                  <a:pt x="0" y="11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972" y="3945893"/>
            <a:ext cx="116415" cy="116415"/>
          </a:xfrm>
          <a:custGeom>
            <a:avLst/>
            <a:gdLst/>
            <a:ahLst/>
            <a:cxnLst/>
            <a:rect r="r" b="b" t="t" l="l"/>
            <a:pathLst>
              <a:path h="116415" w="116415">
                <a:moveTo>
                  <a:pt x="0" y="0"/>
                </a:moveTo>
                <a:lnTo>
                  <a:pt x="116414" y="0"/>
                </a:lnTo>
                <a:lnTo>
                  <a:pt x="116414" y="116415"/>
                </a:lnTo>
                <a:lnTo>
                  <a:pt x="0" y="1164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972" y="5570439"/>
            <a:ext cx="116415" cy="116415"/>
          </a:xfrm>
          <a:custGeom>
            <a:avLst/>
            <a:gdLst/>
            <a:ahLst/>
            <a:cxnLst/>
            <a:rect r="r" b="b" t="t" l="l"/>
            <a:pathLst>
              <a:path h="116415" w="116415">
                <a:moveTo>
                  <a:pt x="0" y="0"/>
                </a:moveTo>
                <a:lnTo>
                  <a:pt x="116414" y="0"/>
                </a:lnTo>
                <a:lnTo>
                  <a:pt x="116414" y="116415"/>
                </a:lnTo>
                <a:lnTo>
                  <a:pt x="0" y="1164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972" y="7105021"/>
            <a:ext cx="116415" cy="116415"/>
          </a:xfrm>
          <a:custGeom>
            <a:avLst/>
            <a:gdLst/>
            <a:ahLst/>
            <a:cxnLst/>
            <a:rect r="r" b="b" t="t" l="l"/>
            <a:pathLst>
              <a:path h="116415" w="116415">
                <a:moveTo>
                  <a:pt x="0" y="0"/>
                </a:moveTo>
                <a:lnTo>
                  <a:pt x="116414" y="0"/>
                </a:lnTo>
                <a:lnTo>
                  <a:pt x="116414" y="116415"/>
                </a:lnTo>
                <a:lnTo>
                  <a:pt x="0" y="1164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972" y="7919942"/>
            <a:ext cx="116415" cy="116415"/>
          </a:xfrm>
          <a:custGeom>
            <a:avLst/>
            <a:gdLst/>
            <a:ahLst/>
            <a:cxnLst/>
            <a:rect r="r" b="b" t="t" l="l"/>
            <a:pathLst>
              <a:path h="116415" w="116415">
                <a:moveTo>
                  <a:pt x="0" y="0"/>
                </a:moveTo>
                <a:lnTo>
                  <a:pt x="116414" y="0"/>
                </a:lnTo>
                <a:lnTo>
                  <a:pt x="116414" y="116415"/>
                </a:lnTo>
                <a:lnTo>
                  <a:pt x="0" y="1164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972" y="8734854"/>
            <a:ext cx="116415" cy="116415"/>
          </a:xfrm>
          <a:custGeom>
            <a:avLst/>
            <a:gdLst/>
            <a:ahLst/>
            <a:cxnLst/>
            <a:rect r="r" b="b" t="t" l="l"/>
            <a:pathLst>
              <a:path h="116415" w="116415">
                <a:moveTo>
                  <a:pt x="0" y="0"/>
                </a:moveTo>
                <a:lnTo>
                  <a:pt x="116414" y="0"/>
                </a:lnTo>
                <a:lnTo>
                  <a:pt x="116414" y="116414"/>
                </a:lnTo>
                <a:lnTo>
                  <a:pt x="0" y="11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941945" y="157172"/>
            <a:ext cx="2158079" cy="1096899"/>
            <a:chOff x="0" y="0"/>
            <a:chExt cx="2877439" cy="14625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77439" cy="1462532"/>
            </a:xfrm>
            <a:custGeom>
              <a:avLst/>
              <a:gdLst/>
              <a:ahLst/>
              <a:cxnLst/>
              <a:rect r="r" b="b" t="t" l="l"/>
              <a:pathLst>
                <a:path h="1462532" w="2877439">
                  <a:moveTo>
                    <a:pt x="0" y="0"/>
                  </a:moveTo>
                  <a:lnTo>
                    <a:pt x="2877439" y="0"/>
                  </a:lnTo>
                  <a:lnTo>
                    <a:pt x="2877439" y="1462532"/>
                  </a:lnTo>
                  <a:lnTo>
                    <a:pt x="0" y="1462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58" r="-67" b="-13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972" y="3130982"/>
            <a:ext cx="116415" cy="116415"/>
            <a:chOff x="0" y="0"/>
            <a:chExt cx="116421" cy="1164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465" cy="116465"/>
            </a:xfrm>
            <a:custGeom>
              <a:avLst/>
              <a:gdLst/>
              <a:ahLst/>
              <a:cxnLst/>
              <a:rect r="r" b="b" t="t" l="l"/>
              <a:pathLst>
                <a:path h="116465" w="116465">
                  <a:moveTo>
                    <a:pt x="0" y="116465"/>
                  </a:moveTo>
                  <a:lnTo>
                    <a:pt x="116465" y="116465"/>
                  </a:lnTo>
                  <a:lnTo>
                    <a:pt x="116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972" y="3945893"/>
            <a:ext cx="116415" cy="116415"/>
            <a:chOff x="0" y="0"/>
            <a:chExt cx="116421" cy="1164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6465" cy="116465"/>
            </a:xfrm>
            <a:custGeom>
              <a:avLst/>
              <a:gdLst/>
              <a:ahLst/>
              <a:cxnLst/>
              <a:rect r="r" b="b" t="t" l="l"/>
              <a:pathLst>
                <a:path h="116465" w="116465">
                  <a:moveTo>
                    <a:pt x="0" y="116465"/>
                  </a:moveTo>
                  <a:lnTo>
                    <a:pt x="116465" y="116465"/>
                  </a:lnTo>
                  <a:lnTo>
                    <a:pt x="116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972" y="5570439"/>
            <a:ext cx="116415" cy="116415"/>
            <a:chOff x="0" y="0"/>
            <a:chExt cx="116421" cy="1164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6465" cy="116465"/>
            </a:xfrm>
            <a:custGeom>
              <a:avLst/>
              <a:gdLst/>
              <a:ahLst/>
              <a:cxnLst/>
              <a:rect r="r" b="b" t="t" l="l"/>
              <a:pathLst>
                <a:path h="116465" w="116465">
                  <a:moveTo>
                    <a:pt x="0" y="116465"/>
                  </a:moveTo>
                  <a:lnTo>
                    <a:pt x="116465" y="116465"/>
                  </a:lnTo>
                  <a:lnTo>
                    <a:pt x="116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972" y="7105021"/>
            <a:ext cx="116415" cy="116415"/>
            <a:chOff x="0" y="0"/>
            <a:chExt cx="116421" cy="11642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6465" cy="116465"/>
            </a:xfrm>
            <a:custGeom>
              <a:avLst/>
              <a:gdLst/>
              <a:ahLst/>
              <a:cxnLst/>
              <a:rect r="r" b="b" t="t" l="l"/>
              <a:pathLst>
                <a:path h="116465" w="116465">
                  <a:moveTo>
                    <a:pt x="0" y="116465"/>
                  </a:moveTo>
                  <a:lnTo>
                    <a:pt x="116465" y="116465"/>
                  </a:lnTo>
                  <a:lnTo>
                    <a:pt x="116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14972" y="7919942"/>
            <a:ext cx="116415" cy="116415"/>
            <a:chOff x="0" y="0"/>
            <a:chExt cx="116421" cy="1164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6465" cy="116465"/>
            </a:xfrm>
            <a:custGeom>
              <a:avLst/>
              <a:gdLst/>
              <a:ahLst/>
              <a:cxnLst/>
              <a:rect r="r" b="b" t="t" l="l"/>
              <a:pathLst>
                <a:path h="116465" w="116465">
                  <a:moveTo>
                    <a:pt x="0" y="116465"/>
                  </a:moveTo>
                  <a:lnTo>
                    <a:pt x="116465" y="116465"/>
                  </a:lnTo>
                  <a:lnTo>
                    <a:pt x="116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972" y="8734854"/>
            <a:ext cx="116415" cy="116415"/>
            <a:chOff x="0" y="0"/>
            <a:chExt cx="116421" cy="1164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465" cy="116465"/>
            </a:xfrm>
            <a:custGeom>
              <a:avLst/>
              <a:gdLst/>
              <a:ahLst/>
              <a:cxnLst/>
              <a:rect r="r" b="b" t="t" l="l"/>
              <a:pathLst>
                <a:path h="116465" w="116465">
                  <a:moveTo>
                    <a:pt x="0" y="116465"/>
                  </a:moveTo>
                  <a:lnTo>
                    <a:pt x="116465" y="116465"/>
                  </a:lnTo>
                  <a:lnTo>
                    <a:pt x="116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522193" y="-2362252"/>
            <a:ext cx="7084905" cy="7861297"/>
            <a:chOff x="0" y="0"/>
            <a:chExt cx="7084911" cy="78613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0" y="63500"/>
              <a:ext cx="6957953" cy="7732395"/>
            </a:xfrm>
            <a:custGeom>
              <a:avLst/>
              <a:gdLst/>
              <a:ahLst/>
              <a:cxnLst/>
              <a:rect r="r" b="b" t="t" l="l"/>
              <a:pathLst>
                <a:path h="7732395" w="6957953">
                  <a:moveTo>
                    <a:pt x="0" y="7732395"/>
                  </a:moveTo>
                  <a:lnTo>
                    <a:pt x="6957953" y="7732395"/>
                  </a:lnTo>
                  <a:lnTo>
                    <a:pt x="69579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63500"/>
              <a:ext cx="6953127" cy="7734300"/>
            </a:xfrm>
            <a:custGeom>
              <a:avLst/>
              <a:gdLst/>
              <a:ahLst/>
              <a:cxnLst/>
              <a:rect r="r" b="b" t="t" l="l"/>
              <a:pathLst>
                <a:path h="7734300" w="6953127">
                  <a:moveTo>
                    <a:pt x="0" y="7734300"/>
                  </a:moveTo>
                  <a:lnTo>
                    <a:pt x="6953127" y="7734300"/>
                  </a:lnTo>
                  <a:lnTo>
                    <a:pt x="6953127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-95027" t="-821" r="-95096" b="-821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77300" y="645928"/>
            <a:ext cx="1299544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330">
                <a:solidFill>
                  <a:srgbClr val="1F497D"/>
                </a:solidFill>
                <a:latin typeface="Calistoga"/>
                <a:ea typeface="Calistoga"/>
                <a:cs typeface="Calistoga"/>
                <a:sym typeface="Calistoga"/>
              </a:rPr>
              <a:t>SMART INDIA HACKATHON 2026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19343" y="1469117"/>
            <a:ext cx="174879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54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4100" y="2727312"/>
            <a:ext cx="9558176" cy="647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0"/>
              </a:lnSpc>
            </a:pPr>
            <a:r>
              <a:rPr lang="en-US" b="true" sz="3799" spc="8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Statement ID – </a:t>
            </a:r>
            <a:r>
              <a:rPr lang="en-US" sz="3799" spc="83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PS 26105 </a:t>
            </a:r>
            <a:r>
              <a:rPr lang="en-US" b="true" sz="3799" spc="8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Statement Title – </a:t>
            </a:r>
            <a:r>
              <a:rPr lang="en-US" sz="3799" spc="83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AI-Powered Continuous Cyber Risk Quantification and Investment Optimization Platform</a:t>
            </a:r>
          </a:p>
          <a:p>
            <a:pPr algn="l">
              <a:lnSpc>
                <a:spcPts val="6170"/>
              </a:lnSpc>
              <a:spcBef>
                <a:spcPts val="1629"/>
              </a:spcBef>
            </a:pPr>
            <a:r>
              <a:rPr lang="en-US" b="true" sz="3799" spc="8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Theme – Blockchain &amp; Cybersecurity PS Category – </a:t>
            </a:r>
            <a:r>
              <a:rPr lang="en-US" sz="3799" spc="83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Software</a:t>
            </a:r>
          </a:p>
          <a:p>
            <a:pPr algn="l">
              <a:lnSpc>
                <a:spcPts val="6170"/>
              </a:lnSpc>
            </a:pPr>
            <a:r>
              <a:rPr lang="en-US" b="true" sz="3799" spc="8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Team ID – NSUT030</a:t>
            </a:r>
          </a:p>
          <a:p>
            <a:pPr algn="l">
              <a:lnSpc>
                <a:spcPts val="6170"/>
              </a:lnSpc>
            </a:pPr>
            <a:r>
              <a:rPr lang="en-US" b="true" sz="3799" spc="8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Team Name – _</a:t>
            </a:r>
            <a:r>
              <a:rPr lang="en-US" sz="3799" spc="83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Private Keys_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0" y="9713119"/>
            <a:ext cx="18287781" cy="573872"/>
            <a:chOff x="0" y="0"/>
            <a:chExt cx="18287784" cy="5738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287747" cy="573913"/>
            </a:xfrm>
            <a:custGeom>
              <a:avLst/>
              <a:gdLst/>
              <a:ahLst/>
              <a:cxnLst/>
              <a:rect r="r" b="b" t="t" l="l"/>
              <a:pathLst>
                <a:path h="573913" w="18287747">
                  <a:moveTo>
                    <a:pt x="0" y="0"/>
                  </a:moveTo>
                  <a:lnTo>
                    <a:pt x="0" y="573913"/>
                  </a:lnTo>
                  <a:lnTo>
                    <a:pt x="18287747" y="573913"/>
                  </a:lnTo>
                  <a:lnTo>
                    <a:pt x="18287747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0" y="9713119"/>
            <a:ext cx="18287914" cy="573881"/>
            <a:chOff x="0" y="0"/>
            <a:chExt cx="18287911" cy="5738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287870" cy="573907"/>
            </a:xfrm>
            <a:custGeom>
              <a:avLst/>
              <a:gdLst/>
              <a:ahLst/>
              <a:cxnLst/>
              <a:rect r="r" b="b" t="t" l="l"/>
              <a:pathLst>
                <a:path h="573907" w="18287870">
                  <a:moveTo>
                    <a:pt x="0" y="573907"/>
                  </a:moveTo>
                  <a:lnTo>
                    <a:pt x="18287870" y="573907"/>
                  </a:lnTo>
                  <a:lnTo>
                    <a:pt x="182878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7431214" y="9840592"/>
            <a:ext cx="3991889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27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SMART INDIA HACKATHON 2026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903717" y="9646444"/>
            <a:ext cx="211147" cy="583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7"/>
              </a:lnSpc>
            </a:pPr>
            <a:r>
              <a:rPr lang="en-US" sz="3462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9050"/>
            <a:ext cx="18288000" cy="10306050"/>
            <a:chOff x="0" y="0"/>
            <a:chExt cx="2438400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41400"/>
                  </a:lnTo>
                  <a:lnTo>
                    <a:pt x="0" y="13741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51" r="0" b="-35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36716" y="1429557"/>
            <a:ext cx="2949808" cy="302240"/>
            <a:chOff x="0" y="0"/>
            <a:chExt cx="776904" cy="796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6904" cy="79602"/>
            </a:xfrm>
            <a:custGeom>
              <a:avLst/>
              <a:gdLst/>
              <a:ahLst/>
              <a:cxnLst/>
              <a:rect r="r" b="b" t="t" l="l"/>
              <a:pathLst>
                <a:path h="79602" w="776904">
                  <a:moveTo>
                    <a:pt x="39368" y="0"/>
                  </a:moveTo>
                  <a:lnTo>
                    <a:pt x="737536" y="0"/>
                  </a:lnTo>
                  <a:cubicBezTo>
                    <a:pt x="759278" y="0"/>
                    <a:pt x="776904" y="17626"/>
                    <a:pt x="776904" y="39368"/>
                  </a:cubicBezTo>
                  <a:lnTo>
                    <a:pt x="776904" y="40234"/>
                  </a:lnTo>
                  <a:cubicBezTo>
                    <a:pt x="776904" y="61977"/>
                    <a:pt x="759278" y="79602"/>
                    <a:pt x="737536" y="79602"/>
                  </a:cubicBezTo>
                  <a:lnTo>
                    <a:pt x="39368" y="79602"/>
                  </a:lnTo>
                  <a:cubicBezTo>
                    <a:pt x="17626" y="79602"/>
                    <a:pt x="0" y="61977"/>
                    <a:pt x="0" y="40234"/>
                  </a:cubicBezTo>
                  <a:lnTo>
                    <a:pt x="0" y="39368"/>
                  </a:lnTo>
                  <a:cubicBezTo>
                    <a:pt x="0" y="17626"/>
                    <a:pt x="17626" y="0"/>
                    <a:pt x="393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76904" cy="117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905785" y="1445318"/>
            <a:ext cx="2611671" cy="23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"/>
              </a:lnSpc>
            </a:pPr>
            <a:r>
              <a:rPr lang="en-US" b="true" sz="12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3" tooltip="https://github.com/kshitij3103/SIH2026"/>
              </a:rPr>
              <a:t>github.com/kshitij3103/SIH2026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790019" y="1429557"/>
            <a:ext cx="2949808" cy="302240"/>
            <a:chOff x="0" y="0"/>
            <a:chExt cx="776904" cy="796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6904" cy="79602"/>
            </a:xfrm>
            <a:custGeom>
              <a:avLst/>
              <a:gdLst/>
              <a:ahLst/>
              <a:cxnLst/>
              <a:rect r="r" b="b" t="t" l="l"/>
              <a:pathLst>
                <a:path h="79602" w="776904">
                  <a:moveTo>
                    <a:pt x="39368" y="0"/>
                  </a:moveTo>
                  <a:lnTo>
                    <a:pt x="737536" y="0"/>
                  </a:lnTo>
                  <a:cubicBezTo>
                    <a:pt x="759278" y="0"/>
                    <a:pt x="776904" y="17626"/>
                    <a:pt x="776904" y="39368"/>
                  </a:cubicBezTo>
                  <a:lnTo>
                    <a:pt x="776904" y="40234"/>
                  </a:lnTo>
                  <a:cubicBezTo>
                    <a:pt x="776904" y="61977"/>
                    <a:pt x="759278" y="79602"/>
                    <a:pt x="737536" y="79602"/>
                  </a:cubicBezTo>
                  <a:lnTo>
                    <a:pt x="39368" y="79602"/>
                  </a:lnTo>
                  <a:cubicBezTo>
                    <a:pt x="17626" y="79602"/>
                    <a:pt x="0" y="61977"/>
                    <a:pt x="0" y="40234"/>
                  </a:cubicBezTo>
                  <a:lnTo>
                    <a:pt x="0" y="39368"/>
                  </a:lnTo>
                  <a:cubicBezTo>
                    <a:pt x="0" y="17626"/>
                    <a:pt x="17626" y="0"/>
                    <a:pt x="393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76904" cy="117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398239" y="1445318"/>
            <a:ext cx="1601887" cy="233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"/>
              </a:lnSpc>
            </a:pPr>
            <a:r>
              <a:rPr lang="en-US" b="true" sz="12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4" tooltip="https://youtu.be/7WWFyT6DtGg"/>
              </a:rPr>
              <a:t>Project Demo Video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77911" y="1429557"/>
            <a:ext cx="2949808" cy="302240"/>
            <a:chOff x="0" y="0"/>
            <a:chExt cx="776904" cy="796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6904" cy="79602"/>
            </a:xfrm>
            <a:custGeom>
              <a:avLst/>
              <a:gdLst/>
              <a:ahLst/>
              <a:cxnLst/>
              <a:rect r="r" b="b" t="t" l="l"/>
              <a:pathLst>
                <a:path h="79602" w="776904">
                  <a:moveTo>
                    <a:pt x="39368" y="0"/>
                  </a:moveTo>
                  <a:lnTo>
                    <a:pt x="737536" y="0"/>
                  </a:lnTo>
                  <a:cubicBezTo>
                    <a:pt x="759278" y="0"/>
                    <a:pt x="776904" y="17626"/>
                    <a:pt x="776904" y="39368"/>
                  </a:cubicBezTo>
                  <a:lnTo>
                    <a:pt x="776904" y="40234"/>
                  </a:lnTo>
                  <a:cubicBezTo>
                    <a:pt x="776904" y="61977"/>
                    <a:pt x="759278" y="79602"/>
                    <a:pt x="737536" y="79602"/>
                  </a:cubicBezTo>
                  <a:lnTo>
                    <a:pt x="39368" y="79602"/>
                  </a:lnTo>
                  <a:cubicBezTo>
                    <a:pt x="17626" y="79602"/>
                    <a:pt x="0" y="61977"/>
                    <a:pt x="0" y="40234"/>
                  </a:cubicBezTo>
                  <a:lnTo>
                    <a:pt x="0" y="39368"/>
                  </a:lnTo>
                  <a:cubicBezTo>
                    <a:pt x="0" y="17626"/>
                    <a:pt x="17626" y="0"/>
                    <a:pt x="393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76904" cy="117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726769" y="1445318"/>
            <a:ext cx="852091" cy="233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"/>
              </a:lnSpc>
            </a:pPr>
            <a:r>
              <a:rPr lang="en-US" b="true" sz="12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5" tooltip="https://sih-2026-prledoynd-kumar-piyushs-projects-ef79c1c3.vercel.app"/>
              </a:rPr>
              <a:t>Live Demo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13119"/>
            <a:ext cx="18287781" cy="573872"/>
            <a:chOff x="0" y="0"/>
            <a:chExt cx="18287784" cy="5738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7747" cy="573913"/>
            </a:xfrm>
            <a:custGeom>
              <a:avLst/>
              <a:gdLst/>
              <a:ahLst/>
              <a:cxnLst/>
              <a:rect r="r" b="b" t="t" l="l"/>
              <a:pathLst>
                <a:path h="573913" w="18287747">
                  <a:moveTo>
                    <a:pt x="0" y="0"/>
                  </a:moveTo>
                  <a:lnTo>
                    <a:pt x="0" y="573913"/>
                  </a:lnTo>
                  <a:lnTo>
                    <a:pt x="18287747" y="573913"/>
                  </a:lnTo>
                  <a:lnTo>
                    <a:pt x="18287747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86337"/>
            <a:ext cx="18288000" cy="8772525"/>
            <a:chOff x="0" y="0"/>
            <a:chExt cx="24384000" cy="11696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1696700"/>
            </a:xfrm>
            <a:custGeom>
              <a:avLst/>
              <a:gdLst/>
              <a:ahLst/>
              <a:cxnLst/>
              <a:rect r="r" b="b" t="t" l="l"/>
              <a:pathLst>
                <a:path h="11696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696700"/>
                  </a:lnTo>
                  <a:lnTo>
                    <a:pt x="0" y="1169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6" t="-1365" r="-198" b="-4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713119"/>
            <a:ext cx="18287914" cy="573881"/>
            <a:chOff x="0" y="0"/>
            <a:chExt cx="18287911" cy="573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7870" cy="573907"/>
            </a:xfrm>
            <a:custGeom>
              <a:avLst/>
              <a:gdLst/>
              <a:ahLst/>
              <a:cxnLst/>
              <a:rect r="r" b="b" t="t" l="l"/>
              <a:pathLst>
                <a:path h="573907" w="18287870">
                  <a:moveTo>
                    <a:pt x="0" y="573907"/>
                  </a:moveTo>
                  <a:lnTo>
                    <a:pt x="18287870" y="573907"/>
                  </a:lnTo>
                  <a:lnTo>
                    <a:pt x="182878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63503" y="-63503"/>
            <a:ext cx="1696717" cy="1702498"/>
          </a:xfrm>
          <a:custGeom>
            <a:avLst/>
            <a:gdLst/>
            <a:ahLst/>
            <a:cxnLst/>
            <a:rect r="r" b="b" t="t" l="l"/>
            <a:pathLst>
              <a:path h="1702498" w="1696717">
                <a:moveTo>
                  <a:pt x="0" y="0"/>
                </a:moveTo>
                <a:lnTo>
                  <a:pt x="1696717" y="0"/>
                </a:lnTo>
                <a:lnTo>
                  <a:pt x="1696717" y="1702498"/>
                </a:lnTo>
                <a:lnTo>
                  <a:pt x="0" y="170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31214" y="9840592"/>
            <a:ext cx="3991889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27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SMART INDIA HACKATHON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30744" y="9846545"/>
            <a:ext cx="145504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51619"/>
            <a:ext cx="1366256" cy="1008250"/>
            <a:chOff x="0" y="0"/>
            <a:chExt cx="1366253" cy="1008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239008" cy="881256"/>
            </a:xfrm>
            <a:custGeom>
              <a:avLst/>
              <a:gdLst/>
              <a:ahLst/>
              <a:cxnLst/>
              <a:rect r="r" b="b" t="t" l="l"/>
              <a:pathLst>
                <a:path h="881256" w="1239008">
                  <a:moveTo>
                    <a:pt x="0" y="0"/>
                  </a:moveTo>
                  <a:lnTo>
                    <a:pt x="0" y="881256"/>
                  </a:lnTo>
                  <a:lnTo>
                    <a:pt x="1239008" y="881256"/>
                  </a:lnTo>
                  <a:lnTo>
                    <a:pt x="1239008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239008" cy="881256"/>
            </a:xfrm>
            <a:custGeom>
              <a:avLst/>
              <a:gdLst/>
              <a:ahLst/>
              <a:cxnLst/>
              <a:rect r="r" b="b" t="t" l="l"/>
              <a:pathLst>
                <a:path h="881256" w="1239008">
                  <a:moveTo>
                    <a:pt x="0" y="881256"/>
                  </a:moveTo>
                  <a:lnTo>
                    <a:pt x="1239008" y="881256"/>
                  </a:lnTo>
                  <a:lnTo>
                    <a:pt x="12390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8212193" cy="10164680"/>
          </a:xfrm>
          <a:custGeom>
            <a:avLst/>
            <a:gdLst/>
            <a:ahLst/>
            <a:cxnLst/>
            <a:rect r="r" b="b" t="t" l="l"/>
            <a:pathLst>
              <a:path h="10164680" w="18212193">
                <a:moveTo>
                  <a:pt x="0" y="0"/>
                </a:moveTo>
                <a:lnTo>
                  <a:pt x="18212193" y="0"/>
                </a:lnTo>
                <a:lnTo>
                  <a:pt x="18212193" y="10164680"/>
                </a:lnTo>
                <a:lnTo>
                  <a:pt x="0" y="10164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18727" y="1277306"/>
            <a:ext cx="7389565" cy="3770944"/>
          </a:xfrm>
          <a:custGeom>
            <a:avLst/>
            <a:gdLst/>
            <a:ahLst/>
            <a:cxnLst/>
            <a:rect r="r" b="b" t="t" l="l"/>
            <a:pathLst>
              <a:path h="3770944" w="7389565">
                <a:moveTo>
                  <a:pt x="0" y="0"/>
                </a:moveTo>
                <a:lnTo>
                  <a:pt x="7389565" y="0"/>
                </a:lnTo>
                <a:lnTo>
                  <a:pt x="7389565" y="3770944"/>
                </a:lnTo>
                <a:lnTo>
                  <a:pt x="0" y="3770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254" t="-29395" r="-71215" b="-1580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8741" y="1277306"/>
            <a:ext cx="9018418" cy="8280332"/>
          </a:xfrm>
          <a:custGeom>
            <a:avLst/>
            <a:gdLst/>
            <a:ahLst/>
            <a:cxnLst/>
            <a:rect r="r" b="b" t="t" l="l"/>
            <a:pathLst>
              <a:path h="8280332" w="9018418">
                <a:moveTo>
                  <a:pt x="0" y="0"/>
                </a:moveTo>
                <a:lnTo>
                  <a:pt x="9018418" y="0"/>
                </a:lnTo>
                <a:lnTo>
                  <a:pt x="9018418" y="8280332"/>
                </a:lnTo>
                <a:lnTo>
                  <a:pt x="0" y="82803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60" t="0" r="-64334" b="-144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3503" y="9649616"/>
            <a:ext cx="18414997" cy="700878"/>
            <a:chOff x="0" y="0"/>
            <a:chExt cx="18415000" cy="7008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1"/>
              <a:ext cx="18287746" cy="573918"/>
            </a:xfrm>
            <a:custGeom>
              <a:avLst/>
              <a:gdLst/>
              <a:ahLst/>
              <a:cxnLst/>
              <a:rect r="r" b="b" t="t" l="l"/>
              <a:pathLst>
                <a:path h="573918" w="18287746">
                  <a:moveTo>
                    <a:pt x="0" y="0"/>
                  </a:moveTo>
                  <a:lnTo>
                    <a:pt x="0" y="573918"/>
                  </a:lnTo>
                  <a:lnTo>
                    <a:pt x="18287746" y="573918"/>
                  </a:lnTo>
                  <a:lnTo>
                    <a:pt x="18287746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1"/>
              <a:ext cx="18288000" cy="573918"/>
            </a:xfrm>
            <a:custGeom>
              <a:avLst/>
              <a:gdLst/>
              <a:ahLst/>
              <a:cxnLst/>
              <a:rect r="r" b="b" t="t" l="l"/>
              <a:pathLst>
                <a:path h="573918" w="18288000">
                  <a:moveTo>
                    <a:pt x="0" y="573918"/>
                  </a:moveTo>
                  <a:lnTo>
                    <a:pt x="18288000" y="573918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1"/>
              <a:ext cx="18288000" cy="573918"/>
            </a:xfrm>
            <a:custGeom>
              <a:avLst/>
              <a:gdLst/>
              <a:ahLst/>
              <a:cxnLst/>
              <a:rect r="r" b="b" t="t" l="l"/>
              <a:pathLst>
                <a:path h="573918" w="18288000">
                  <a:moveTo>
                    <a:pt x="0" y="573918"/>
                  </a:moveTo>
                  <a:lnTo>
                    <a:pt x="18288000" y="573918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1"/>
              <a:ext cx="18287873" cy="573918"/>
            </a:xfrm>
            <a:custGeom>
              <a:avLst/>
              <a:gdLst/>
              <a:ahLst/>
              <a:cxnLst/>
              <a:rect r="r" b="b" t="t" l="l"/>
              <a:pathLst>
                <a:path h="573918" w="18287873">
                  <a:moveTo>
                    <a:pt x="0" y="573918"/>
                  </a:moveTo>
                  <a:lnTo>
                    <a:pt x="18287873" y="573918"/>
                  </a:lnTo>
                  <a:lnTo>
                    <a:pt x="182878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048995" y="5143500"/>
            <a:ext cx="11038129" cy="4414138"/>
          </a:xfrm>
          <a:custGeom>
            <a:avLst/>
            <a:gdLst/>
            <a:ahLst/>
            <a:cxnLst/>
            <a:rect r="r" b="b" t="t" l="l"/>
            <a:pathLst>
              <a:path h="4414138" w="11038129">
                <a:moveTo>
                  <a:pt x="0" y="0"/>
                </a:moveTo>
                <a:lnTo>
                  <a:pt x="11038129" y="0"/>
                </a:lnTo>
                <a:lnTo>
                  <a:pt x="11038129" y="4414138"/>
                </a:lnTo>
                <a:lnTo>
                  <a:pt x="0" y="4414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31214" y="9840592"/>
            <a:ext cx="3991889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27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SMART INDIA HACKATHON 2026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21973" y="99884"/>
            <a:ext cx="17508497" cy="928816"/>
          </a:xfrm>
          <a:custGeom>
            <a:avLst/>
            <a:gdLst/>
            <a:ahLst/>
            <a:cxnLst/>
            <a:rect r="r" b="b" t="t" l="l"/>
            <a:pathLst>
              <a:path h="928816" w="17508497">
                <a:moveTo>
                  <a:pt x="0" y="0"/>
                </a:moveTo>
                <a:lnTo>
                  <a:pt x="17508497" y="0"/>
                </a:lnTo>
                <a:lnTo>
                  <a:pt x="17508497" y="928816"/>
                </a:lnTo>
                <a:lnTo>
                  <a:pt x="0" y="928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4" t="-9733" r="-863" b="-97767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230744" y="9846545"/>
            <a:ext cx="13787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13119"/>
            <a:ext cx="18287781" cy="573872"/>
            <a:chOff x="0" y="0"/>
            <a:chExt cx="18287784" cy="5738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7747" cy="573913"/>
            </a:xfrm>
            <a:custGeom>
              <a:avLst/>
              <a:gdLst/>
              <a:ahLst/>
              <a:cxnLst/>
              <a:rect r="r" b="b" t="t" l="l"/>
              <a:pathLst>
                <a:path h="573913" w="18287747">
                  <a:moveTo>
                    <a:pt x="0" y="0"/>
                  </a:moveTo>
                  <a:lnTo>
                    <a:pt x="0" y="573913"/>
                  </a:lnTo>
                  <a:lnTo>
                    <a:pt x="18287747" y="573913"/>
                  </a:lnTo>
                  <a:lnTo>
                    <a:pt x="18287747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57210" y="0"/>
            <a:ext cx="2001202" cy="1017175"/>
            <a:chOff x="0" y="0"/>
            <a:chExt cx="2668270" cy="13562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68270" cy="1356233"/>
            </a:xfrm>
            <a:custGeom>
              <a:avLst/>
              <a:gdLst/>
              <a:ahLst/>
              <a:cxnLst/>
              <a:rect r="r" b="b" t="t" l="l"/>
              <a:pathLst>
                <a:path h="1356233" w="2668270">
                  <a:moveTo>
                    <a:pt x="0" y="0"/>
                  </a:moveTo>
                  <a:lnTo>
                    <a:pt x="2668270" y="0"/>
                  </a:lnTo>
                  <a:lnTo>
                    <a:pt x="2668270" y="1356233"/>
                  </a:lnTo>
                  <a:lnTo>
                    <a:pt x="0" y="1356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8" r="-70" b="-13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3110" y="5220900"/>
            <a:ext cx="76200" cy="76200"/>
            <a:chOff x="0" y="0"/>
            <a:chExt cx="76200" cy="76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53110" y="6116250"/>
            <a:ext cx="76200" cy="76200"/>
            <a:chOff x="0" y="0"/>
            <a:chExt cx="762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3110" y="8033004"/>
            <a:ext cx="76200" cy="76200"/>
            <a:chOff x="0" y="0"/>
            <a:chExt cx="76200" cy="76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53110" y="8928354"/>
            <a:ext cx="76200" cy="76200"/>
            <a:chOff x="0" y="0"/>
            <a:chExt cx="76200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56806" y="1872024"/>
            <a:ext cx="76200" cy="76200"/>
            <a:chOff x="0" y="0"/>
            <a:chExt cx="76200" cy="7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56806" y="2767374"/>
            <a:ext cx="76200" cy="76200"/>
            <a:chOff x="0" y="0"/>
            <a:chExt cx="76200" cy="76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56806" y="3662724"/>
            <a:ext cx="76200" cy="76200"/>
            <a:chOff x="0" y="0"/>
            <a:chExt cx="76200" cy="76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68318" y="9509379"/>
            <a:ext cx="3654181" cy="19050"/>
            <a:chOff x="0" y="0"/>
            <a:chExt cx="3654171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88886" cy="19050"/>
            </a:xfrm>
            <a:custGeom>
              <a:avLst/>
              <a:gdLst/>
              <a:ahLst/>
              <a:cxnLst/>
              <a:rect r="r" b="b" t="t" l="l"/>
              <a:pathLst>
                <a:path h="19050" w="4088886">
                  <a:moveTo>
                    <a:pt x="0" y="0"/>
                  </a:moveTo>
                  <a:lnTo>
                    <a:pt x="0" y="19050"/>
                  </a:lnTo>
                  <a:lnTo>
                    <a:pt x="336422" y="19050"/>
                  </a:lnTo>
                  <a:lnTo>
                    <a:pt x="336422" y="0"/>
                  </a:lnTo>
                  <a:close/>
                  <a:moveTo>
                    <a:pt x="416178" y="0"/>
                  </a:moveTo>
                  <a:lnTo>
                    <a:pt x="416178" y="19050"/>
                  </a:lnTo>
                  <a:lnTo>
                    <a:pt x="1812795" y="19050"/>
                  </a:lnTo>
                  <a:lnTo>
                    <a:pt x="1812795" y="0"/>
                  </a:lnTo>
                  <a:close/>
                  <a:moveTo>
                    <a:pt x="1979419" y="0"/>
                  </a:moveTo>
                  <a:lnTo>
                    <a:pt x="1979419" y="19050"/>
                  </a:lnTo>
                  <a:lnTo>
                    <a:pt x="2994274" y="19050"/>
                  </a:lnTo>
                  <a:lnTo>
                    <a:pt x="2994274" y="0"/>
                  </a:lnTo>
                  <a:close/>
                  <a:moveTo>
                    <a:pt x="4088886" y="0"/>
                  </a:moveTo>
                  <a:lnTo>
                    <a:pt x="4088886" y="19050"/>
                  </a:lnTo>
                  <a:lnTo>
                    <a:pt x="3369304" y="19050"/>
                  </a:lnTo>
                  <a:lnTo>
                    <a:pt x="3369304" y="0"/>
                  </a:lnTo>
                  <a:close/>
                  <a:moveTo>
                    <a:pt x="3744335" y="0"/>
                  </a:moveTo>
                  <a:lnTo>
                    <a:pt x="3744335" y="19050"/>
                  </a:lnTo>
                  <a:lnTo>
                    <a:pt x="3949440" y="19050"/>
                  </a:lnTo>
                  <a:lnTo>
                    <a:pt x="394944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628957" y="8614029"/>
            <a:ext cx="4534491" cy="19050"/>
            <a:chOff x="0" y="0"/>
            <a:chExt cx="4534497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34537" cy="19050"/>
            </a:xfrm>
            <a:custGeom>
              <a:avLst/>
              <a:gdLst/>
              <a:ahLst/>
              <a:cxnLst/>
              <a:rect r="r" b="b" t="t" l="l"/>
              <a:pathLst>
                <a:path h="19050" w="4534537">
                  <a:moveTo>
                    <a:pt x="0" y="0"/>
                  </a:moveTo>
                  <a:lnTo>
                    <a:pt x="0" y="19050"/>
                  </a:lnTo>
                  <a:lnTo>
                    <a:pt x="336423" y="19050"/>
                  </a:lnTo>
                  <a:lnTo>
                    <a:pt x="336423" y="0"/>
                  </a:lnTo>
                  <a:close/>
                  <a:moveTo>
                    <a:pt x="416179" y="0"/>
                  </a:moveTo>
                  <a:lnTo>
                    <a:pt x="416179" y="19050"/>
                  </a:lnTo>
                  <a:lnTo>
                    <a:pt x="2079499" y="19050"/>
                  </a:lnTo>
                  <a:lnTo>
                    <a:pt x="2079499" y="0"/>
                  </a:lnTo>
                  <a:close/>
                  <a:moveTo>
                    <a:pt x="2246123" y="0"/>
                  </a:moveTo>
                  <a:lnTo>
                    <a:pt x="2246123" y="19050"/>
                  </a:lnTo>
                  <a:lnTo>
                    <a:pt x="2726945" y="19050"/>
                  </a:lnTo>
                  <a:lnTo>
                    <a:pt x="2726945" y="0"/>
                  </a:lnTo>
                  <a:close/>
                  <a:moveTo>
                    <a:pt x="3321179" y="0"/>
                  </a:moveTo>
                  <a:lnTo>
                    <a:pt x="3321179" y="19050"/>
                  </a:lnTo>
                  <a:lnTo>
                    <a:pt x="4534537" y="19050"/>
                  </a:lnTo>
                  <a:lnTo>
                    <a:pt x="453453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137173" y="4243749"/>
            <a:ext cx="3284782" cy="19050"/>
            <a:chOff x="0" y="0"/>
            <a:chExt cx="3284792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25018" cy="19050"/>
            </a:xfrm>
            <a:custGeom>
              <a:avLst/>
              <a:gdLst/>
              <a:ahLst/>
              <a:cxnLst/>
              <a:rect r="r" b="b" t="t" l="l"/>
              <a:pathLst>
                <a:path h="19050" w="3525018">
                  <a:moveTo>
                    <a:pt x="0" y="0"/>
                  </a:moveTo>
                  <a:lnTo>
                    <a:pt x="0" y="19050"/>
                  </a:lnTo>
                  <a:lnTo>
                    <a:pt x="336424" y="19050"/>
                  </a:lnTo>
                  <a:lnTo>
                    <a:pt x="336424" y="0"/>
                  </a:lnTo>
                  <a:close/>
                  <a:moveTo>
                    <a:pt x="416180" y="0"/>
                  </a:moveTo>
                  <a:lnTo>
                    <a:pt x="416180" y="19050"/>
                  </a:lnTo>
                  <a:lnTo>
                    <a:pt x="2371729" y="19050"/>
                  </a:lnTo>
                  <a:lnTo>
                    <a:pt x="2371729" y="0"/>
                  </a:lnTo>
                  <a:close/>
                  <a:moveTo>
                    <a:pt x="2538481" y="0"/>
                  </a:moveTo>
                  <a:lnTo>
                    <a:pt x="2538481" y="19050"/>
                  </a:lnTo>
                  <a:lnTo>
                    <a:pt x="2778638" y="19050"/>
                  </a:lnTo>
                  <a:lnTo>
                    <a:pt x="2778638" y="0"/>
                  </a:lnTo>
                  <a:close/>
                  <a:moveTo>
                    <a:pt x="3098552" y="0"/>
                  </a:moveTo>
                  <a:lnTo>
                    <a:pt x="3098552" y="19050"/>
                  </a:lnTo>
                  <a:lnTo>
                    <a:pt x="3525018" y="19050"/>
                  </a:lnTo>
                  <a:lnTo>
                    <a:pt x="3525018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003358" y="2453049"/>
            <a:ext cx="4933207" cy="19050"/>
            <a:chOff x="0" y="0"/>
            <a:chExt cx="4933201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3183" cy="19050"/>
            </a:xfrm>
            <a:custGeom>
              <a:avLst/>
              <a:gdLst/>
              <a:ahLst/>
              <a:cxnLst/>
              <a:rect r="r" b="b" t="t" l="l"/>
              <a:pathLst>
                <a:path h="19050" w="4933183">
                  <a:moveTo>
                    <a:pt x="0" y="0"/>
                  </a:moveTo>
                  <a:lnTo>
                    <a:pt x="0" y="19050"/>
                  </a:lnTo>
                  <a:lnTo>
                    <a:pt x="336423" y="19050"/>
                  </a:lnTo>
                  <a:lnTo>
                    <a:pt x="336423" y="0"/>
                  </a:lnTo>
                  <a:close/>
                  <a:moveTo>
                    <a:pt x="416179" y="0"/>
                  </a:moveTo>
                  <a:lnTo>
                    <a:pt x="416179" y="19050"/>
                  </a:lnTo>
                  <a:lnTo>
                    <a:pt x="3279391" y="19050"/>
                  </a:lnTo>
                  <a:lnTo>
                    <a:pt x="3279391" y="0"/>
                  </a:lnTo>
                  <a:close/>
                  <a:moveTo>
                    <a:pt x="3446014" y="0"/>
                  </a:moveTo>
                  <a:lnTo>
                    <a:pt x="3446014" y="19050"/>
                  </a:lnTo>
                  <a:lnTo>
                    <a:pt x="4933183" y="19050"/>
                  </a:lnTo>
                  <a:lnTo>
                    <a:pt x="493318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-63503" y="9649616"/>
            <a:ext cx="18414997" cy="700878"/>
            <a:chOff x="0" y="0"/>
            <a:chExt cx="18415000" cy="7008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63500" y="63499"/>
              <a:ext cx="18288000" cy="573908"/>
            </a:xfrm>
            <a:custGeom>
              <a:avLst/>
              <a:gdLst/>
              <a:ahLst/>
              <a:cxnLst/>
              <a:rect r="r" b="b" t="t" l="l"/>
              <a:pathLst>
                <a:path h="573908" w="18288000">
                  <a:moveTo>
                    <a:pt x="0" y="573908"/>
                  </a:moveTo>
                  <a:lnTo>
                    <a:pt x="18288000" y="573908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500" y="63499"/>
              <a:ext cx="18287873" cy="573908"/>
            </a:xfrm>
            <a:custGeom>
              <a:avLst/>
              <a:gdLst/>
              <a:ahLst/>
              <a:cxnLst/>
              <a:rect r="r" b="b" t="t" l="l"/>
              <a:pathLst>
                <a:path h="573908" w="18287873">
                  <a:moveTo>
                    <a:pt x="0" y="573908"/>
                  </a:moveTo>
                  <a:lnTo>
                    <a:pt x="18287873" y="573908"/>
                  </a:lnTo>
                  <a:lnTo>
                    <a:pt x="182878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68318" y="7144950"/>
            <a:ext cx="13209537" cy="19050"/>
            <a:chOff x="0" y="0"/>
            <a:chExt cx="13209537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563467" cy="19050"/>
            </a:xfrm>
            <a:custGeom>
              <a:avLst/>
              <a:gdLst/>
              <a:ahLst/>
              <a:cxnLst/>
              <a:rect r="r" b="b" t="t" l="l"/>
              <a:pathLst>
                <a:path h="19050" w="15563467">
                  <a:moveTo>
                    <a:pt x="0" y="0"/>
                  </a:moveTo>
                  <a:lnTo>
                    <a:pt x="0" y="19050"/>
                  </a:lnTo>
                  <a:lnTo>
                    <a:pt x="2189607" y="19050"/>
                  </a:lnTo>
                  <a:lnTo>
                    <a:pt x="2189607" y="0"/>
                  </a:lnTo>
                  <a:close/>
                  <a:moveTo>
                    <a:pt x="2303018" y="0"/>
                  </a:moveTo>
                  <a:lnTo>
                    <a:pt x="2303018" y="19050"/>
                  </a:lnTo>
                  <a:lnTo>
                    <a:pt x="3493770" y="19050"/>
                  </a:lnTo>
                  <a:lnTo>
                    <a:pt x="3493770" y="0"/>
                  </a:lnTo>
                  <a:close/>
                  <a:moveTo>
                    <a:pt x="3607181" y="0"/>
                  </a:moveTo>
                  <a:lnTo>
                    <a:pt x="3607181" y="19050"/>
                  </a:lnTo>
                  <a:lnTo>
                    <a:pt x="4414393" y="19050"/>
                  </a:lnTo>
                  <a:lnTo>
                    <a:pt x="4414393" y="0"/>
                  </a:lnTo>
                  <a:close/>
                  <a:moveTo>
                    <a:pt x="5335015" y="0"/>
                  </a:moveTo>
                  <a:lnTo>
                    <a:pt x="5335015" y="19050"/>
                  </a:lnTo>
                  <a:lnTo>
                    <a:pt x="7785988" y="19050"/>
                  </a:lnTo>
                  <a:lnTo>
                    <a:pt x="7785988" y="0"/>
                  </a:lnTo>
                  <a:close/>
                  <a:moveTo>
                    <a:pt x="7861807" y="0"/>
                  </a:moveTo>
                  <a:lnTo>
                    <a:pt x="7861807" y="19050"/>
                  </a:lnTo>
                  <a:lnTo>
                    <a:pt x="8581135" y="19050"/>
                  </a:lnTo>
                  <a:lnTo>
                    <a:pt x="8581135" y="0"/>
                  </a:lnTo>
                  <a:close/>
                  <a:moveTo>
                    <a:pt x="9376028" y="0"/>
                  </a:moveTo>
                  <a:lnTo>
                    <a:pt x="9376028" y="19050"/>
                  </a:lnTo>
                  <a:lnTo>
                    <a:pt x="10154918" y="19050"/>
                  </a:lnTo>
                  <a:lnTo>
                    <a:pt x="10154918" y="0"/>
                  </a:lnTo>
                  <a:close/>
                  <a:moveTo>
                    <a:pt x="10321542" y="0"/>
                  </a:moveTo>
                  <a:lnTo>
                    <a:pt x="10321542" y="19050"/>
                  </a:lnTo>
                  <a:lnTo>
                    <a:pt x="12155930" y="19050"/>
                  </a:lnTo>
                  <a:lnTo>
                    <a:pt x="12155930" y="0"/>
                  </a:lnTo>
                  <a:close/>
                  <a:moveTo>
                    <a:pt x="14066010" y="0"/>
                  </a:moveTo>
                  <a:lnTo>
                    <a:pt x="14066010" y="19050"/>
                  </a:lnTo>
                  <a:lnTo>
                    <a:pt x="14488158" y="19050"/>
                  </a:lnTo>
                  <a:lnTo>
                    <a:pt x="14488158" y="0"/>
                  </a:lnTo>
                  <a:close/>
                  <a:moveTo>
                    <a:pt x="14985871" y="0"/>
                  </a:moveTo>
                  <a:lnTo>
                    <a:pt x="14985871" y="19050"/>
                  </a:lnTo>
                  <a:lnTo>
                    <a:pt x="15083406" y="19050"/>
                  </a:lnTo>
                  <a:lnTo>
                    <a:pt x="15083406" y="0"/>
                  </a:lnTo>
                  <a:close/>
                  <a:moveTo>
                    <a:pt x="15260827" y="0"/>
                  </a:moveTo>
                  <a:lnTo>
                    <a:pt x="15260827" y="19050"/>
                  </a:lnTo>
                  <a:lnTo>
                    <a:pt x="15563467" y="19050"/>
                  </a:lnTo>
                  <a:lnTo>
                    <a:pt x="1556346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197431" y="5801925"/>
            <a:ext cx="9258900" cy="19050"/>
            <a:chOff x="0" y="0"/>
            <a:chExt cx="9258897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58937" cy="19050"/>
            </a:xfrm>
            <a:custGeom>
              <a:avLst/>
              <a:gdLst/>
              <a:ahLst/>
              <a:cxnLst/>
              <a:rect r="r" b="b" t="t" l="l"/>
              <a:pathLst>
                <a:path h="19050" w="9258937">
                  <a:moveTo>
                    <a:pt x="0" y="0"/>
                  </a:moveTo>
                  <a:lnTo>
                    <a:pt x="0" y="19050"/>
                  </a:lnTo>
                  <a:lnTo>
                    <a:pt x="336423" y="19050"/>
                  </a:lnTo>
                  <a:lnTo>
                    <a:pt x="336423" y="0"/>
                  </a:lnTo>
                  <a:close/>
                  <a:moveTo>
                    <a:pt x="416179" y="0"/>
                  </a:moveTo>
                  <a:lnTo>
                    <a:pt x="416179" y="19050"/>
                  </a:lnTo>
                  <a:lnTo>
                    <a:pt x="2223516" y="19050"/>
                  </a:lnTo>
                  <a:lnTo>
                    <a:pt x="2223516" y="0"/>
                  </a:lnTo>
                  <a:close/>
                  <a:moveTo>
                    <a:pt x="2390140" y="0"/>
                  </a:moveTo>
                  <a:lnTo>
                    <a:pt x="2390140" y="19050"/>
                  </a:lnTo>
                  <a:lnTo>
                    <a:pt x="4697350" y="19050"/>
                  </a:lnTo>
                  <a:lnTo>
                    <a:pt x="4697350" y="0"/>
                  </a:lnTo>
                  <a:close/>
                  <a:moveTo>
                    <a:pt x="4864101" y="0"/>
                  </a:moveTo>
                  <a:lnTo>
                    <a:pt x="4864101" y="19050"/>
                  </a:lnTo>
                  <a:lnTo>
                    <a:pt x="5824348" y="19050"/>
                  </a:lnTo>
                  <a:lnTo>
                    <a:pt x="5824348" y="0"/>
                  </a:lnTo>
                  <a:close/>
                  <a:moveTo>
                    <a:pt x="6864351" y="0"/>
                  </a:moveTo>
                  <a:lnTo>
                    <a:pt x="6864351" y="19050"/>
                  </a:lnTo>
                  <a:lnTo>
                    <a:pt x="7992111" y="19050"/>
                  </a:lnTo>
                  <a:lnTo>
                    <a:pt x="7992111" y="0"/>
                  </a:lnTo>
                  <a:close/>
                  <a:moveTo>
                    <a:pt x="8071867" y="0"/>
                  </a:moveTo>
                  <a:lnTo>
                    <a:pt x="8071867" y="19050"/>
                  </a:lnTo>
                  <a:lnTo>
                    <a:pt x="9258937" y="19050"/>
                  </a:lnTo>
                  <a:lnTo>
                    <a:pt x="925893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245629" y="3284896"/>
            <a:ext cx="4546454" cy="146047"/>
            <a:chOff x="0" y="0"/>
            <a:chExt cx="4546448" cy="146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0" y="63500"/>
              <a:ext cx="64897" cy="19050"/>
            </a:xfrm>
            <a:custGeom>
              <a:avLst/>
              <a:gdLst/>
              <a:ahLst/>
              <a:cxnLst/>
              <a:rect r="r" b="b" t="t" l="l"/>
              <a:pathLst>
                <a:path h="19050" w="64897">
                  <a:moveTo>
                    <a:pt x="0" y="0"/>
                  </a:moveTo>
                  <a:lnTo>
                    <a:pt x="64897" y="0"/>
                  </a:lnTo>
                  <a:lnTo>
                    <a:pt x="6489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28397" y="63500"/>
              <a:ext cx="5662546" cy="19050"/>
            </a:xfrm>
            <a:custGeom>
              <a:avLst/>
              <a:gdLst/>
              <a:ahLst/>
              <a:cxnLst/>
              <a:rect r="r" b="b" t="t" l="l"/>
              <a:pathLst>
                <a:path h="19050" w="5662546">
                  <a:moveTo>
                    <a:pt x="0" y="0"/>
                  </a:moveTo>
                  <a:lnTo>
                    <a:pt x="0" y="19050"/>
                  </a:lnTo>
                  <a:lnTo>
                    <a:pt x="336423" y="19050"/>
                  </a:lnTo>
                  <a:lnTo>
                    <a:pt x="336423" y="0"/>
                  </a:lnTo>
                  <a:close/>
                  <a:moveTo>
                    <a:pt x="416179" y="0"/>
                  </a:moveTo>
                  <a:lnTo>
                    <a:pt x="416179" y="19050"/>
                  </a:lnTo>
                  <a:lnTo>
                    <a:pt x="1731771" y="19050"/>
                  </a:lnTo>
                  <a:lnTo>
                    <a:pt x="1731771" y="0"/>
                  </a:lnTo>
                  <a:close/>
                  <a:moveTo>
                    <a:pt x="1811526" y="0"/>
                  </a:moveTo>
                  <a:lnTo>
                    <a:pt x="1811526" y="19050"/>
                  </a:lnTo>
                  <a:lnTo>
                    <a:pt x="2137535" y="19050"/>
                  </a:lnTo>
                  <a:lnTo>
                    <a:pt x="2137535" y="0"/>
                  </a:lnTo>
                  <a:close/>
                  <a:moveTo>
                    <a:pt x="2630295" y="0"/>
                  </a:moveTo>
                  <a:lnTo>
                    <a:pt x="2630295" y="19050"/>
                  </a:lnTo>
                  <a:lnTo>
                    <a:pt x="3007484" y="19050"/>
                  </a:lnTo>
                  <a:lnTo>
                    <a:pt x="3007484" y="0"/>
                  </a:lnTo>
                  <a:close/>
                  <a:moveTo>
                    <a:pt x="3464430" y="0"/>
                  </a:moveTo>
                  <a:lnTo>
                    <a:pt x="3464430" y="19050"/>
                  </a:lnTo>
                  <a:lnTo>
                    <a:pt x="3818760" y="19050"/>
                  </a:lnTo>
                  <a:lnTo>
                    <a:pt x="3818760" y="0"/>
                  </a:lnTo>
                  <a:close/>
                  <a:moveTo>
                    <a:pt x="4339714" y="0"/>
                  </a:moveTo>
                  <a:lnTo>
                    <a:pt x="4339714" y="19050"/>
                  </a:lnTo>
                  <a:lnTo>
                    <a:pt x="4590284" y="19050"/>
                  </a:lnTo>
                  <a:lnTo>
                    <a:pt x="4590284" y="0"/>
                  </a:lnTo>
                  <a:close/>
                  <a:moveTo>
                    <a:pt x="4920611" y="0"/>
                  </a:moveTo>
                  <a:lnTo>
                    <a:pt x="4920611" y="19050"/>
                  </a:lnTo>
                  <a:lnTo>
                    <a:pt x="5662546" y="19050"/>
                  </a:lnTo>
                  <a:lnTo>
                    <a:pt x="566254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397258" y="6697275"/>
            <a:ext cx="6549476" cy="19050"/>
            <a:chOff x="0" y="0"/>
            <a:chExt cx="6549479" cy="190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49389" cy="19050"/>
            </a:xfrm>
            <a:custGeom>
              <a:avLst/>
              <a:gdLst/>
              <a:ahLst/>
              <a:cxnLst/>
              <a:rect r="r" b="b" t="t" l="l"/>
              <a:pathLst>
                <a:path h="19050" w="6549389">
                  <a:moveTo>
                    <a:pt x="0" y="0"/>
                  </a:moveTo>
                  <a:lnTo>
                    <a:pt x="0" y="19050"/>
                  </a:lnTo>
                  <a:lnTo>
                    <a:pt x="336423" y="19050"/>
                  </a:lnTo>
                  <a:lnTo>
                    <a:pt x="336423" y="0"/>
                  </a:lnTo>
                  <a:close/>
                  <a:moveTo>
                    <a:pt x="416179" y="0"/>
                  </a:moveTo>
                  <a:lnTo>
                    <a:pt x="416179" y="19050"/>
                  </a:lnTo>
                  <a:lnTo>
                    <a:pt x="4024375" y="19050"/>
                  </a:lnTo>
                  <a:lnTo>
                    <a:pt x="4024375" y="0"/>
                  </a:lnTo>
                  <a:close/>
                  <a:moveTo>
                    <a:pt x="4104131" y="0"/>
                  </a:moveTo>
                  <a:lnTo>
                    <a:pt x="4104131" y="19050"/>
                  </a:lnTo>
                  <a:lnTo>
                    <a:pt x="6298056" y="19050"/>
                  </a:lnTo>
                  <a:lnTo>
                    <a:pt x="6298056" y="0"/>
                  </a:lnTo>
                  <a:close/>
                  <a:moveTo>
                    <a:pt x="6411467" y="0"/>
                  </a:moveTo>
                  <a:lnTo>
                    <a:pt x="6411467" y="19050"/>
                  </a:lnTo>
                  <a:lnTo>
                    <a:pt x="6549389" y="19050"/>
                  </a:lnTo>
                  <a:lnTo>
                    <a:pt x="654938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135372" y="2900724"/>
            <a:ext cx="64894" cy="19050"/>
            <a:chOff x="0" y="0"/>
            <a:chExt cx="64884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892" cy="19050"/>
            </a:xfrm>
            <a:custGeom>
              <a:avLst/>
              <a:gdLst/>
              <a:ahLst/>
              <a:cxnLst/>
              <a:rect r="r" b="b" t="t" l="l"/>
              <a:pathLst>
                <a:path h="19050" w="64892">
                  <a:moveTo>
                    <a:pt x="0" y="0"/>
                  </a:moveTo>
                  <a:lnTo>
                    <a:pt x="64892" y="0"/>
                  </a:lnTo>
                  <a:lnTo>
                    <a:pt x="6489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7431214" y="9840592"/>
            <a:ext cx="3991889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27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SMART INDIA HACKATHON 2026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228210" y="9846545"/>
            <a:ext cx="148066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6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988566" y="166545"/>
            <a:ext cx="8476974" cy="687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RESEARCH AND REFERENCES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18681" y="7355424"/>
            <a:ext cx="6606188" cy="48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1800AD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Engineering &amp; Quantitative Tooling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53991" y="7846647"/>
            <a:ext cx="59846" cy="364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18681" y="4495895"/>
            <a:ext cx="8333432" cy="48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1800AD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Regulatory &amp; Compliance References (India)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586942" y="5034544"/>
            <a:ext cx="59846" cy="364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14985" y="9637881"/>
            <a:ext cx="133293" cy="364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\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68318" y="5034544"/>
            <a:ext cx="16369855" cy="36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 spc="48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Reserve BankofIndia –CyberSecurityFrameworkinBanks(2016): </a:t>
            </a:r>
            <a:r>
              <a:rPr lang="en-US" sz="2100" spc="48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Regulatory basis for board-level, financially-quantified cyber risk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68318" y="5425602"/>
            <a:ext cx="16888577" cy="176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100" spc="48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reporting in Indian BFSI institutions. </a:t>
            </a:r>
            <a:r>
              <a:rPr lang="en-US" sz="2100" spc="48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  <a:hlinkClick r:id="rId3" tooltip="https://www.rbi.org.in/commonman/english/scripts/Notification.aspx?Id=1721"/>
              </a:rPr>
              <a:t>https://www.rbi.org.in/commonman/english/scripts/Notification.aspx?Id=1721</a:t>
            </a:r>
          </a:p>
          <a:p>
            <a:pPr algn="l">
              <a:lnSpc>
                <a:spcPts val="3525"/>
              </a:lnSpc>
            </a:pPr>
            <a:r>
              <a:rPr lang="en-US" b="true" sz="2100" spc="48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SEBI – Cybersecurity and Cyber Resilience Framework (CSCRF), Aug 2024: </a:t>
            </a:r>
            <a:r>
              <a:rPr lang="en-US" sz="2100" spc="48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Governance-Identify-Protect-Detect-Respond-Recover structure informing the platform's compliance-mapping roadmap. </a:t>
            </a:r>
            <a:r>
              <a:rPr lang="en-US" sz="2100" spc="48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  <a:hlinkClick r:id="rId4" tooltip="https://nsdl.co.in/downloadables/pdf/2024-0118-Policy-SEBI_Circular_on_Cybersecurity_and_Cyber_Resilience_Framework_(CSCRF)_for_SEBI_Regulated_Entities_(REs).pdf"/>
              </a:rPr>
              <a:t>https://nsdl.co.in/downloadables/pdf/2024-0118-Policy- SEBI_Circular_on_Cybersecurity_and_Cyber_Resilience_Framework_(CSCRF)_for_SEBI_Regulated_Entities_(REs).pdf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12380" y="1322280"/>
            <a:ext cx="78943" cy="408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1800AD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72014" y="1628518"/>
            <a:ext cx="17092622" cy="2663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b="true" sz="2100" spc="48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FAIR Institute – Factor Analysis of Information Risk (Open FAIR): </a:t>
            </a:r>
            <a:r>
              <a:rPr lang="en-US" sz="2100" spc="48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Core quantitative risk taxonomy underlying the platform's Monte Carlo risk-quantification engine. </a:t>
            </a:r>
            <a:r>
              <a:rPr lang="en-US" sz="2100" spc="48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  <a:hlinkClick r:id="rId5" tooltip="https://www.fairinstitute.org/what-is-fair"/>
              </a:rPr>
              <a:t>https://www.fairinstitute.org/what-is-fair</a:t>
            </a:r>
          </a:p>
          <a:p>
            <a:pPr algn="l">
              <a:lnSpc>
                <a:spcPts val="3525"/>
              </a:lnSpc>
            </a:pPr>
            <a:r>
              <a:rPr lang="en-US" b="true" sz="2100" spc="48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The Open Group – Open FAIR Body of Knowledge (O-RA / O-RT Standards):</a:t>
            </a:r>
            <a:r>
              <a:rPr lang="en-US" sz="2100" spc="48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 Formal risk analysis and risk taxonomy standards referenced for the likelihood, frequency, and loss-magnitude modeling. </a:t>
            </a:r>
            <a:r>
              <a:rPr lang="en-US" sz="2100" spc="48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  <a:hlinkClick r:id="rId6" tooltip="https://www.opengroup.org/open-fair"/>
              </a:rPr>
              <a:t>https://www.opengroup.org/open-fai</a:t>
            </a:r>
          </a:p>
          <a:p>
            <a:pPr algn="l">
              <a:lnSpc>
                <a:spcPts val="3525"/>
              </a:lnSpc>
            </a:pPr>
            <a:r>
              <a:rPr lang="en-US" b="true" sz="2100" spc="48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FIRST.org – Exploit Prediction Scoring System (EPSS):</a:t>
            </a:r>
            <a:r>
              <a:rPr lang="en-US" sz="2100" spc="48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Daily-updated exploitation-probability scores used as the likelihood input for the vulnerability layer. </a:t>
            </a:r>
            <a:r>
              <a:rPr lang="en-US" sz="2100" spc="48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  <a:hlinkClick r:id="rId7" tooltip="https://www.first.org/epss/"/>
              </a:rPr>
              <a:t>https://www.first.org/epss/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68318" y="7846647"/>
            <a:ext cx="16674684" cy="36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 spc="48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NISTCybersecurityFramework(CSF)2.0:</a:t>
            </a:r>
            <a:r>
              <a:rPr lang="en-US" sz="2100" spc="48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Six-function (Govern-Identify-Protect-Detect-Respond-Recover) reference model used for control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68318" y="8237706"/>
            <a:ext cx="17287580" cy="132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100" spc="48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categorization. </a:t>
            </a:r>
            <a:r>
              <a:rPr lang="en-US" sz="2100" spc="48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  <a:hlinkClick r:id="rId8" tooltip="https://www.nist.gov/cyberframework"/>
              </a:rPr>
              <a:t>https://www.nist.gov/cyberframework</a:t>
            </a:r>
          </a:p>
          <a:p>
            <a:pPr algn="l">
              <a:lnSpc>
                <a:spcPts val="3525"/>
              </a:lnSpc>
            </a:pPr>
            <a:r>
              <a:rPr lang="en-US" b="true" sz="2100" spc="48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PuLP / COIN-OR CBC Solver Documentation: </a:t>
            </a:r>
            <a:r>
              <a:rPr lang="en-US" sz="2100" spc="48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Open-source Integer Linear Programming library powering the Knapsack ILP investment optimizer. </a:t>
            </a:r>
            <a:r>
              <a:rPr lang="en-US" sz="2100" spc="48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  <a:hlinkClick r:id="rId9" tooltip="https://coin-or.github.io/pulp/"/>
              </a:rPr>
              <a:t>https://coin-or.github.io/pulp/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18681" y="1322280"/>
            <a:ext cx="6248581" cy="408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1800AD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Methodology</a:t>
            </a:r>
            <a:r>
              <a:rPr lang="en-US" b="true" sz="2400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 </a:t>
            </a:r>
            <a:r>
              <a:rPr lang="en-US" b="true" sz="2400">
                <a:solidFill>
                  <a:srgbClr val="1800AD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&amp;</a:t>
            </a:r>
            <a:r>
              <a:rPr lang="en-US" b="true" sz="2400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 </a:t>
            </a:r>
            <a:r>
              <a:rPr lang="en-US" b="true" sz="2400">
                <a:solidFill>
                  <a:srgbClr val="1800AD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Standards</a:t>
            </a:r>
            <a:r>
              <a:rPr lang="en-US" b="true" sz="2400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 </a:t>
            </a:r>
            <a:r>
              <a:rPr lang="en-US" b="true" sz="2400">
                <a:solidFill>
                  <a:srgbClr val="1800AD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Foundations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DAHWgZfEqkw</dc:identifier>
  <dcterms:modified xsi:type="dcterms:W3CDTF">2011-08-01T06:04:30Z</dcterms:modified>
  <cp:revision>1</cp:revision>
  <dc:title>SIH-private keys Final.pdf</dc:title>
</cp:coreProperties>
</file>